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20B943-8CCF-4404-8EE2-71B303F56DB8}">
          <p14:sldIdLst>
            <p14:sldId id="291"/>
          </p14:sldIdLst>
        </p14:section>
        <p14:section name="Untitled Section" id="{02A194FF-0ED1-435C-BB33-08106ED65F23}">
          <p14:sldIdLst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84" y="4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hyperlink" Target="https://www.esa.int/Applications/Observing_the_Earth/Copernicus/" TargetMode="External"/><Relationship Id="rId1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hyperlink" Target="https://bigearth.net/" TargetMode="External"/><Relationship Id="rId12" Type="http://schemas.openxmlformats.org/officeDocument/2006/relationships/image" Target="../media/image52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hyperlink" Target="https://www.isro.gov.in/NISARSatellite.html" TargetMode="External"/><Relationship Id="rId5" Type="http://schemas.openxmlformats.org/officeDocument/2006/relationships/hyperlink" Target="https://txt.bigearth.net/" TargetMode="External"/><Relationship Id="rId15" Type="http://schemas.openxmlformats.org/officeDocument/2006/relationships/image" Target="../media/image54.png"/><Relationship Id="rId10" Type="http://schemas.openxmlformats.org/officeDocument/2006/relationships/image" Target="../media/image51.png"/><Relationship Id="rId19" Type="http://schemas.openxmlformats.org/officeDocument/2006/relationships/image" Target="../media/image58.png"/><Relationship Id="rId4" Type="http://schemas.openxmlformats.org/officeDocument/2006/relationships/image" Target="../media/image48.png"/><Relationship Id="rId9" Type="http://schemas.openxmlformats.org/officeDocument/2006/relationships/hyperlink" Target="https://www.isro.gov.in/" TargetMode="External"/><Relationship Id="rId1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7DAD6B0-D19A-0BFE-A065-0BBDD054247E}"/>
              </a:ext>
            </a:extLst>
          </p:cNvPr>
          <p:cNvGrpSpPr/>
          <p:nvPr/>
        </p:nvGrpSpPr>
        <p:grpSpPr>
          <a:xfrm>
            <a:off x="171450" y="1389835"/>
            <a:ext cx="6446456" cy="5055999"/>
            <a:chOff x="171450" y="1389835"/>
            <a:chExt cx="6446456" cy="5055999"/>
          </a:xfrm>
        </p:grpSpPr>
        <p:sp>
          <p:nvSpPr>
            <p:cNvPr id="10" name="TextBox 9"/>
            <p:cNvSpPr txBox="1"/>
            <p:nvPr/>
          </p:nvSpPr>
          <p:spPr>
            <a:xfrm>
              <a:off x="171450" y="1389835"/>
              <a:ext cx="6446456" cy="5055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 ID – 26167</a:t>
              </a:r>
            </a:p>
            <a:p>
              <a:pPr marL="285750" indent="-285750" algn="jus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 Title – </a:t>
              </a:r>
            </a:p>
            <a:p>
              <a:pPr algn="just">
                <a:lnSpc>
                  <a:spcPct val="100000"/>
                </a:lnSpc>
              </a:pPr>
              <a:endParaRPr 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00000"/>
                </a:lnSpc>
              </a:pPr>
              <a:endParaRPr 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Theme – Space Technology</a:t>
              </a: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PS Category – Software</a:t>
              </a: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Team ID – </a:t>
              </a:r>
            </a:p>
            <a:p>
              <a:pPr marL="285750" indent="-28575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Team Name – </a:t>
              </a:r>
              <a:r>
                <a:rPr lang="en-US" sz="2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TensorTitans</a:t>
              </a:r>
              <a:endParaRPr lang="en-IN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109F0C-E52A-706F-C6C8-1523BC302952}"/>
                </a:ext>
              </a:extLst>
            </p:cNvPr>
            <p:cNvSpPr txBox="1"/>
            <p:nvPr/>
          </p:nvSpPr>
          <p:spPr>
            <a:xfrm>
              <a:off x="461711" y="2789570"/>
              <a:ext cx="609700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IN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SatQuery</a:t>
              </a:r>
              <a:r>
                <a:rPr lang="en-IN" b="1" dirty="0">
                  <a:latin typeface="Arial" panose="020B0604020202020204" pitchFamily="34" charset="0"/>
                  <a:cs typeface="Arial" panose="020B0604020202020204" pitchFamily="34" charset="0"/>
                </a:rPr>
                <a:t> AI - </a:t>
              </a:r>
              <a:r>
                <a:rPr lang="en-IN" dirty="0">
                  <a:latin typeface="Arial" panose="020B0604020202020204" pitchFamily="34" charset="0"/>
                  <a:cs typeface="Arial" panose="020B0604020202020204" pitchFamily="34" charset="0"/>
                </a:rPr>
                <a:t>An Interactive Vision-Language Assistant for Multimodal Remote Sensing Image Analysis through Text Queries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26" name="Picture 15425">
            <a:extLst>
              <a:ext uri="{FF2B5EF4-FFF2-40B4-BE49-F238E27FC236}">
                <a16:creationId xmlns:a16="http://schemas.microsoft.com/office/drawing/2014/main" id="{F1B76782-97EA-DACB-3871-63610B5E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57305" y="2119594"/>
            <a:ext cx="6298285" cy="4198856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CDE8D0-095E-A6F5-C042-613938984D25}"/>
              </a:ext>
            </a:extLst>
          </p:cNvPr>
          <p:cNvSpPr/>
          <p:nvPr/>
        </p:nvSpPr>
        <p:spPr>
          <a:xfrm>
            <a:off x="62527" y="3191404"/>
            <a:ext cx="3342757" cy="275143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1358" y="-502443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2527" y="1207862"/>
            <a:ext cx="11862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Proposed Solution</a:t>
            </a:r>
          </a:p>
          <a:p>
            <a:endParaRPr lang="en-US" sz="600" u="sng" dirty="0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 Titans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9859D7D-97CC-77AD-DCCC-30B8B80A7A3E}"/>
              </a:ext>
            </a:extLst>
          </p:cNvPr>
          <p:cNvGrpSpPr/>
          <p:nvPr/>
        </p:nvGrpSpPr>
        <p:grpSpPr>
          <a:xfrm>
            <a:off x="110077" y="2457532"/>
            <a:ext cx="2780938" cy="610739"/>
            <a:chOff x="7471872" y="2935324"/>
            <a:chExt cx="3493670" cy="751520"/>
          </a:xfrm>
        </p:grpSpPr>
        <p:sp>
          <p:nvSpPr>
            <p:cNvPr id="12" name="Rounded Rectangle 1">
              <a:extLst>
                <a:ext uri="{FF2B5EF4-FFF2-40B4-BE49-F238E27FC236}">
                  <a16:creationId xmlns:a16="http://schemas.microsoft.com/office/drawing/2014/main" id="{87D1959D-440D-393E-E984-12C05764F5E1}"/>
                </a:ext>
              </a:extLst>
            </p:cNvPr>
            <p:cNvSpPr/>
            <p:nvPr/>
          </p:nvSpPr>
          <p:spPr>
            <a:xfrm>
              <a:off x="7471872" y="3023077"/>
              <a:ext cx="3426823" cy="66376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Rounded Rectangle 2">
              <a:extLst>
                <a:ext uri="{FF2B5EF4-FFF2-40B4-BE49-F238E27FC236}">
                  <a16:creationId xmlns:a16="http://schemas.microsoft.com/office/drawing/2014/main" id="{A3D12393-A6AE-817D-A579-F8271D05E591}"/>
                </a:ext>
              </a:extLst>
            </p:cNvPr>
            <p:cNvSpPr/>
            <p:nvPr/>
          </p:nvSpPr>
          <p:spPr>
            <a:xfrm>
              <a:off x="7538719" y="2935324"/>
              <a:ext cx="3426823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EA22592-E7BA-F466-FD57-EAFB6137110C}"/>
              </a:ext>
            </a:extLst>
          </p:cNvPr>
          <p:cNvSpPr txBox="1"/>
          <p:nvPr/>
        </p:nvSpPr>
        <p:spPr>
          <a:xfrm>
            <a:off x="4533709" y="506497"/>
            <a:ext cx="2548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 </a:t>
            </a: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Brahmand</a:t>
            </a:r>
            <a:endParaRPr lang="en-I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648163-8FB2-642B-768E-24CE4FA8B761}"/>
              </a:ext>
            </a:extLst>
          </p:cNvPr>
          <p:cNvSpPr txBox="1"/>
          <p:nvPr/>
        </p:nvSpPr>
        <p:spPr>
          <a:xfrm>
            <a:off x="4954309" y="850559"/>
            <a:ext cx="170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Vishwaroopa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20FFF4-CF25-AFAC-85E3-298E193EC458}"/>
              </a:ext>
            </a:extLst>
          </p:cNvPr>
          <p:cNvSpPr txBox="1"/>
          <p:nvPr/>
        </p:nvSpPr>
        <p:spPr>
          <a:xfrm>
            <a:off x="198309" y="2536008"/>
            <a:ext cx="332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Addressing the Problem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D535122-A62E-07B4-31FF-1DC642878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8" y="3393120"/>
            <a:ext cx="486068" cy="48606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5C1E6F7-54D4-21E2-0D15-1C58FA8EC598}"/>
              </a:ext>
            </a:extLst>
          </p:cNvPr>
          <p:cNvSpPr txBox="1"/>
          <p:nvPr/>
        </p:nvSpPr>
        <p:spPr>
          <a:xfrm>
            <a:off x="570138" y="3380958"/>
            <a:ext cx="3079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Clouds &amp; darkness</a:t>
            </a:r>
            <a:r>
              <a:rPr lang="en-IN" sz="1400" dirty="0"/>
              <a:t> → </a:t>
            </a:r>
          </a:p>
          <a:p>
            <a:r>
              <a:rPr lang="en-IN" sz="1400" dirty="0"/>
              <a:t>Optical data becomes unreliable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3F56958-9914-71FD-1A58-8C7394ECA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7" y="3929756"/>
            <a:ext cx="561001" cy="57853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ED0209A-66D0-7BD5-237A-7336D06D2F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18" y="4606121"/>
            <a:ext cx="486068" cy="5034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9ABC0FE-B246-67A1-0742-F20D43A97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793" y="5232681"/>
            <a:ext cx="446346" cy="47459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CC55308-BB75-D83D-CFB4-75FFC6E408F0}"/>
              </a:ext>
            </a:extLst>
          </p:cNvPr>
          <p:cNvSpPr txBox="1"/>
          <p:nvPr/>
        </p:nvSpPr>
        <p:spPr>
          <a:xfrm>
            <a:off x="555051" y="3983587"/>
            <a:ext cx="2850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Fragmented datasets</a:t>
            </a:r>
            <a:r>
              <a:rPr lang="en-IN" sz="1400" dirty="0"/>
              <a:t> → </a:t>
            </a:r>
          </a:p>
          <a:p>
            <a:r>
              <a:rPr lang="en-IN" sz="1400" dirty="0"/>
              <a:t>Hard to build a complete picture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E8CF81-F3F5-F26B-1BF0-674856AD5F55}"/>
              </a:ext>
            </a:extLst>
          </p:cNvPr>
          <p:cNvSpPr txBox="1"/>
          <p:nvPr/>
        </p:nvSpPr>
        <p:spPr>
          <a:xfrm>
            <a:off x="523923" y="4614786"/>
            <a:ext cx="3171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False alarms</a:t>
            </a:r>
            <a:r>
              <a:rPr lang="en-IN" sz="1400" dirty="0"/>
              <a:t> → </a:t>
            </a:r>
          </a:p>
          <a:p>
            <a:r>
              <a:rPr lang="en-IN" sz="1400" dirty="0"/>
              <a:t>Delayed response &amp; wasted resources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F34DB7-F80D-0918-8E81-EE62EE5FA1FB}"/>
              </a:ext>
            </a:extLst>
          </p:cNvPr>
          <p:cNvSpPr txBox="1"/>
          <p:nvPr/>
        </p:nvSpPr>
        <p:spPr>
          <a:xfrm>
            <a:off x="508621" y="5229027"/>
            <a:ext cx="2757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Complex tools</a:t>
            </a:r>
            <a:r>
              <a:rPr lang="en-IN" sz="1400" dirty="0"/>
              <a:t> → </a:t>
            </a:r>
          </a:p>
          <a:p>
            <a:r>
              <a:rPr lang="en-IN" sz="1400" dirty="0"/>
              <a:t>Difficult for non-expert users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62B0455-0C9C-59EB-1095-B769E33453C0}"/>
              </a:ext>
            </a:extLst>
          </p:cNvPr>
          <p:cNvGrpSpPr/>
          <p:nvPr/>
        </p:nvGrpSpPr>
        <p:grpSpPr>
          <a:xfrm>
            <a:off x="9242667" y="2455663"/>
            <a:ext cx="2813750" cy="610971"/>
            <a:chOff x="7538719" y="2935323"/>
            <a:chExt cx="3500561" cy="747308"/>
          </a:xfrm>
        </p:grpSpPr>
        <p:sp>
          <p:nvSpPr>
            <p:cNvPr id="48" name="Rounded Rectangle 1">
              <a:extLst>
                <a:ext uri="{FF2B5EF4-FFF2-40B4-BE49-F238E27FC236}">
                  <a16:creationId xmlns:a16="http://schemas.microsoft.com/office/drawing/2014/main" id="{1CC9C577-7A22-131D-2600-CE52BB66DDB7}"/>
                </a:ext>
              </a:extLst>
            </p:cNvPr>
            <p:cNvSpPr/>
            <p:nvPr/>
          </p:nvSpPr>
          <p:spPr>
            <a:xfrm>
              <a:off x="7612458" y="3018863"/>
              <a:ext cx="3426822" cy="66376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9" name="Rounded Rectangle 2">
              <a:extLst>
                <a:ext uri="{FF2B5EF4-FFF2-40B4-BE49-F238E27FC236}">
                  <a16:creationId xmlns:a16="http://schemas.microsoft.com/office/drawing/2014/main" id="{EA3A0B85-2554-0E67-2A65-B91E9F7F9346}"/>
                </a:ext>
              </a:extLst>
            </p:cNvPr>
            <p:cNvSpPr/>
            <p:nvPr/>
          </p:nvSpPr>
          <p:spPr>
            <a:xfrm>
              <a:off x="7538719" y="2935323"/>
              <a:ext cx="3426822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9AC60F1-9763-432A-7A76-DF28533BFA79}"/>
              </a:ext>
            </a:extLst>
          </p:cNvPr>
          <p:cNvSpPr txBox="1"/>
          <p:nvPr/>
        </p:nvSpPr>
        <p:spPr>
          <a:xfrm>
            <a:off x="9580645" y="2543422"/>
            <a:ext cx="2693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Solution Overview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113474C-4A63-95BB-0D16-EEE65E5308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4200" y="3245836"/>
            <a:ext cx="599636" cy="577880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C3C8576-0256-3B53-991A-4FF8C239BAF3}"/>
              </a:ext>
            </a:extLst>
          </p:cNvPr>
          <p:cNvSpPr/>
          <p:nvPr/>
        </p:nvSpPr>
        <p:spPr>
          <a:xfrm>
            <a:off x="9211514" y="3200011"/>
            <a:ext cx="2880799" cy="66953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365" name="Picture 15364">
            <a:extLst>
              <a:ext uri="{FF2B5EF4-FFF2-40B4-BE49-F238E27FC236}">
                <a16:creationId xmlns:a16="http://schemas.microsoft.com/office/drawing/2014/main" id="{E8A0905C-AA76-6FA3-319F-A57AFE2211B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29601" y="3978787"/>
            <a:ext cx="551181" cy="577880"/>
          </a:xfrm>
          <a:prstGeom prst="rect">
            <a:avLst/>
          </a:prstGeom>
        </p:spPr>
      </p:pic>
      <p:sp>
        <p:nvSpPr>
          <p:cNvPr id="15367" name="Rectangle: Rounded Corners 15366">
            <a:extLst>
              <a:ext uri="{FF2B5EF4-FFF2-40B4-BE49-F238E27FC236}">
                <a16:creationId xmlns:a16="http://schemas.microsoft.com/office/drawing/2014/main" id="{08BC595A-0FA0-DAC9-2725-DFF54CF0C232}"/>
              </a:ext>
            </a:extLst>
          </p:cNvPr>
          <p:cNvSpPr/>
          <p:nvPr/>
        </p:nvSpPr>
        <p:spPr>
          <a:xfrm>
            <a:off x="9211514" y="3932962"/>
            <a:ext cx="2880799" cy="66953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369" name="Picture 15368">
            <a:extLst>
              <a:ext uri="{FF2B5EF4-FFF2-40B4-BE49-F238E27FC236}">
                <a16:creationId xmlns:a16="http://schemas.microsoft.com/office/drawing/2014/main" id="{5C4A4BB2-B1D0-CB6B-08CD-81AF71383AC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231608" y="4711738"/>
            <a:ext cx="533400" cy="577880"/>
          </a:xfrm>
          <a:prstGeom prst="rect">
            <a:avLst/>
          </a:prstGeom>
        </p:spPr>
      </p:pic>
      <p:sp>
        <p:nvSpPr>
          <p:cNvPr id="15371" name="Rectangle: Rounded Corners 15370">
            <a:extLst>
              <a:ext uri="{FF2B5EF4-FFF2-40B4-BE49-F238E27FC236}">
                <a16:creationId xmlns:a16="http://schemas.microsoft.com/office/drawing/2014/main" id="{2F168B93-E2D9-E4B3-9775-3F4BCAB919F8}"/>
              </a:ext>
            </a:extLst>
          </p:cNvPr>
          <p:cNvSpPr/>
          <p:nvPr/>
        </p:nvSpPr>
        <p:spPr>
          <a:xfrm>
            <a:off x="9204200" y="4665913"/>
            <a:ext cx="2880799" cy="66953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373" name="Picture 15372">
            <a:extLst>
              <a:ext uri="{FF2B5EF4-FFF2-40B4-BE49-F238E27FC236}">
                <a16:creationId xmlns:a16="http://schemas.microsoft.com/office/drawing/2014/main" id="{FBE3AD78-7E01-539F-FCBB-F78BF3D1CEA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14973" y="5443800"/>
            <a:ext cx="551181" cy="577880"/>
          </a:xfrm>
          <a:prstGeom prst="rect">
            <a:avLst/>
          </a:prstGeom>
        </p:spPr>
      </p:pic>
      <p:sp>
        <p:nvSpPr>
          <p:cNvPr id="15375" name="Rectangle: Rounded Corners 15374">
            <a:extLst>
              <a:ext uri="{FF2B5EF4-FFF2-40B4-BE49-F238E27FC236}">
                <a16:creationId xmlns:a16="http://schemas.microsoft.com/office/drawing/2014/main" id="{FED48EDF-1B8A-87BD-D33D-4EC9A58DA3E1}"/>
              </a:ext>
            </a:extLst>
          </p:cNvPr>
          <p:cNvSpPr/>
          <p:nvPr/>
        </p:nvSpPr>
        <p:spPr>
          <a:xfrm>
            <a:off x="9196886" y="5397975"/>
            <a:ext cx="2880799" cy="66953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85" name="TextBox 15384">
            <a:extLst>
              <a:ext uri="{FF2B5EF4-FFF2-40B4-BE49-F238E27FC236}">
                <a16:creationId xmlns:a16="http://schemas.microsoft.com/office/drawing/2014/main" id="{4CD0F3E9-52B3-F4A0-7D84-2EC47BABE8E1}"/>
              </a:ext>
            </a:extLst>
          </p:cNvPr>
          <p:cNvSpPr txBox="1"/>
          <p:nvPr/>
        </p:nvSpPr>
        <p:spPr>
          <a:xfrm>
            <a:off x="9709918" y="3280449"/>
            <a:ext cx="2644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Multimodal Data</a:t>
            </a:r>
            <a:br>
              <a:rPr lang="en-IN" sz="1200" dirty="0"/>
            </a:br>
            <a:r>
              <a:rPr lang="en-IN" sz="1200" dirty="0"/>
              <a:t>Optical + SAR + Thermal + DEM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87" name="TextBox 15386">
            <a:extLst>
              <a:ext uri="{FF2B5EF4-FFF2-40B4-BE49-F238E27FC236}">
                <a16:creationId xmlns:a16="http://schemas.microsoft.com/office/drawing/2014/main" id="{F982765E-21BA-C56F-265A-0C4031A521CE}"/>
              </a:ext>
            </a:extLst>
          </p:cNvPr>
          <p:cNvSpPr txBox="1"/>
          <p:nvPr/>
        </p:nvSpPr>
        <p:spPr>
          <a:xfrm>
            <a:off x="9709919" y="4029093"/>
            <a:ext cx="262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Physics &amp; Causal AI</a:t>
            </a:r>
            <a:br>
              <a:rPr lang="en-IN" sz="1200" dirty="0"/>
            </a:br>
            <a:r>
              <a:rPr lang="en-IN" sz="1200" dirty="0"/>
              <a:t>Fewer false alarms, better reasoning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90" name="TextBox 15389">
            <a:extLst>
              <a:ext uri="{FF2B5EF4-FFF2-40B4-BE49-F238E27FC236}">
                <a16:creationId xmlns:a16="http://schemas.microsoft.com/office/drawing/2014/main" id="{E3FBF0FA-D56B-0DDA-7AB0-5CB326D24340}"/>
              </a:ext>
            </a:extLst>
          </p:cNvPr>
          <p:cNvSpPr txBox="1"/>
          <p:nvPr/>
        </p:nvSpPr>
        <p:spPr>
          <a:xfrm>
            <a:off x="9709919" y="4766299"/>
            <a:ext cx="2346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Early Risk Prediction</a:t>
            </a:r>
            <a:br>
              <a:rPr lang="en-IN" sz="1200" dirty="0"/>
            </a:br>
            <a:r>
              <a:rPr lang="en-IN" sz="1200" dirty="0"/>
              <a:t>Probabilistic hazard maps &amp; alerts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94" name="TextBox 15393">
            <a:extLst>
              <a:ext uri="{FF2B5EF4-FFF2-40B4-BE49-F238E27FC236}">
                <a16:creationId xmlns:a16="http://schemas.microsoft.com/office/drawing/2014/main" id="{9EB52236-FE4D-ED7A-7C4B-A8A03FB7A3B8}"/>
              </a:ext>
            </a:extLst>
          </p:cNvPr>
          <p:cNvSpPr txBox="1"/>
          <p:nvPr/>
        </p:nvSpPr>
        <p:spPr>
          <a:xfrm>
            <a:off x="9709919" y="5482116"/>
            <a:ext cx="2570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Accessible Intelligence</a:t>
            </a:r>
            <a:br>
              <a:rPr lang="en-IN" sz="1200" dirty="0"/>
            </a:br>
            <a:r>
              <a:rPr lang="en-IN" sz="1200" dirty="0"/>
              <a:t>Simple dashboard + 22 languages</a:t>
            </a:r>
          </a:p>
        </p:txBody>
      </p:sp>
      <p:sp>
        <p:nvSpPr>
          <p:cNvPr id="15422" name="TextBox 15421">
            <a:extLst>
              <a:ext uri="{FF2B5EF4-FFF2-40B4-BE49-F238E27FC236}">
                <a16:creationId xmlns:a16="http://schemas.microsoft.com/office/drawing/2014/main" id="{4F9BA311-539B-6983-A2EA-D0851EA85F0D}"/>
              </a:ext>
            </a:extLst>
          </p:cNvPr>
          <p:cNvSpPr txBox="1"/>
          <p:nvPr/>
        </p:nvSpPr>
        <p:spPr>
          <a:xfrm>
            <a:off x="379495" y="1568233"/>
            <a:ext cx="11433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An AI-powered geospatial platform that combines Optical, SAR, Thermal and DEM data with Physics-guided and Causal AI to detect environmental risks early and provide explainable, real-time alerts.</a:t>
            </a:r>
            <a:endParaRPr lang="en-US" sz="1600" u="sng" dirty="0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3" name="Picture 17512">
            <a:extLst>
              <a:ext uri="{FF2B5EF4-FFF2-40B4-BE49-F238E27FC236}">
                <a16:creationId xmlns:a16="http://schemas.microsoft.com/office/drawing/2014/main" id="{6EE7B185-47CA-2D88-052B-660A8ED76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621" y="3701122"/>
            <a:ext cx="463574" cy="349268"/>
          </a:xfrm>
          <a:prstGeom prst="rect">
            <a:avLst/>
          </a:prstGeom>
        </p:spPr>
      </p:pic>
      <p:sp>
        <p:nvSpPr>
          <p:cNvPr id="17529" name="TextBox 17528">
            <a:extLst>
              <a:ext uri="{FF2B5EF4-FFF2-40B4-BE49-F238E27FC236}">
                <a16:creationId xmlns:a16="http://schemas.microsoft.com/office/drawing/2014/main" id="{B0142895-AB68-AB67-BA2F-62827760D6BC}"/>
              </a:ext>
            </a:extLst>
          </p:cNvPr>
          <p:cNvSpPr txBox="1"/>
          <p:nvPr/>
        </p:nvSpPr>
        <p:spPr>
          <a:xfrm>
            <a:off x="6104402" y="4442942"/>
            <a:ext cx="1599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Autonomous router selects best expert(s) for the query &amp; task (e.g. flood, deforestation, urban)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 Titans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8A138C4-6A10-4DB5-7019-734C8ECFAECC}"/>
              </a:ext>
            </a:extLst>
          </p:cNvPr>
          <p:cNvGrpSpPr/>
          <p:nvPr/>
        </p:nvGrpSpPr>
        <p:grpSpPr>
          <a:xfrm>
            <a:off x="9294105" y="1559636"/>
            <a:ext cx="2813750" cy="610971"/>
            <a:chOff x="7538719" y="2935323"/>
            <a:chExt cx="3500561" cy="747308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CE678EC5-E9ED-9D0B-B1EE-DA100925D60D}"/>
                </a:ext>
              </a:extLst>
            </p:cNvPr>
            <p:cNvSpPr/>
            <p:nvPr/>
          </p:nvSpPr>
          <p:spPr>
            <a:xfrm>
              <a:off x="7612458" y="3018863"/>
              <a:ext cx="3426822" cy="6637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" name="Rounded Rectangle 2">
              <a:extLst>
                <a:ext uri="{FF2B5EF4-FFF2-40B4-BE49-F238E27FC236}">
                  <a16:creationId xmlns:a16="http://schemas.microsoft.com/office/drawing/2014/main" id="{80C64EF2-4D31-A11F-74BD-A5608F681A39}"/>
                </a:ext>
              </a:extLst>
            </p:cNvPr>
            <p:cNvSpPr/>
            <p:nvPr/>
          </p:nvSpPr>
          <p:spPr>
            <a:xfrm>
              <a:off x="7538719" y="2935323"/>
              <a:ext cx="3426822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F014ECB-F0F7-CC1B-FE1F-CC280C7E0E3A}"/>
              </a:ext>
            </a:extLst>
          </p:cNvPr>
          <p:cNvSpPr txBox="1"/>
          <p:nvPr/>
        </p:nvSpPr>
        <p:spPr>
          <a:xfrm>
            <a:off x="9632084" y="1647395"/>
            <a:ext cx="202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E6352C-4B74-C8EC-6D4F-772458B9A366}"/>
              </a:ext>
            </a:extLst>
          </p:cNvPr>
          <p:cNvSpPr/>
          <p:nvPr/>
        </p:nvSpPr>
        <p:spPr>
          <a:xfrm>
            <a:off x="139961" y="2360688"/>
            <a:ext cx="2351113" cy="392275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0649B4-D023-AE37-4348-C803C0C0359F}"/>
              </a:ext>
            </a:extLst>
          </p:cNvPr>
          <p:cNvGrpSpPr/>
          <p:nvPr/>
        </p:nvGrpSpPr>
        <p:grpSpPr>
          <a:xfrm>
            <a:off x="163287" y="1559868"/>
            <a:ext cx="2780938" cy="610739"/>
            <a:chOff x="7471872" y="2935324"/>
            <a:chExt cx="3493670" cy="751520"/>
          </a:xfrm>
        </p:grpSpPr>
        <p:sp>
          <p:nvSpPr>
            <p:cNvPr id="16" name="Rounded Rectangle 1">
              <a:extLst>
                <a:ext uri="{FF2B5EF4-FFF2-40B4-BE49-F238E27FC236}">
                  <a16:creationId xmlns:a16="http://schemas.microsoft.com/office/drawing/2014/main" id="{C39371A9-E2D2-1176-F5FB-23FE662EDFB0}"/>
                </a:ext>
              </a:extLst>
            </p:cNvPr>
            <p:cNvSpPr/>
            <p:nvPr/>
          </p:nvSpPr>
          <p:spPr>
            <a:xfrm>
              <a:off x="7471872" y="3023077"/>
              <a:ext cx="3426823" cy="66376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Rounded Rectangle 2">
              <a:extLst>
                <a:ext uri="{FF2B5EF4-FFF2-40B4-BE49-F238E27FC236}">
                  <a16:creationId xmlns:a16="http://schemas.microsoft.com/office/drawing/2014/main" id="{482AC4CD-70C0-C686-8E90-9E1BE7BBCE72}"/>
                </a:ext>
              </a:extLst>
            </p:cNvPr>
            <p:cNvSpPr/>
            <p:nvPr/>
          </p:nvSpPr>
          <p:spPr>
            <a:xfrm>
              <a:off x="7538719" y="2935324"/>
              <a:ext cx="3426823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BAA0D0E-B516-8782-95A3-7A48AF31A848}"/>
              </a:ext>
            </a:extLst>
          </p:cNvPr>
          <p:cNvSpPr txBox="1"/>
          <p:nvPr/>
        </p:nvSpPr>
        <p:spPr>
          <a:xfrm>
            <a:off x="1012229" y="1644093"/>
            <a:ext cx="102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5AC96A-250F-6543-8017-F0BBDF36E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458" y="2558499"/>
            <a:ext cx="789991" cy="8210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BC7337-4A8D-54B8-9F82-11EB9FFFC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08" y="3521682"/>
            <a:ext cx="752669" cy="7899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157EB0-F35E-5AF0-C296-870E1B23E5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07" y="4452984"/>
            <a:ext cx="789990" cy="75266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21A161A-CE61-CED4-C1A5-CBEE01CEE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06" y="5324006"/>
            <a:ext cx="783771" cy="77133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37B9F9D-90E3-8745-DA8A-728FAEB989E6}"/>
              </a:ext>
            </a:extLst>
          </p:cNvPr>
          <p:cNvSpPr txBox="1"/>
          <p:nvPr/>
        </p:nvSpPr>
        <p:spPr>
          <a:xfrm>
            <a:off x="974868" y="2551752"/>
            <a:ext cx="1234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OPTICAL / MULTISPECTRAL</a:t>
            </a:r>
            <a:endParaRPr lang="en-IN" sz="1200" dirty="0">
              <a:solidFill>
                <a:schemeClr val="accent3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6A6078-14E9-E5B3-C8A9-BC021E1B2C27}"/>
              </a:ext>
            </a:extLst>
          </p:cNvPr>
          <p:cNvSpPr txBox="1"/>
          <p:nvPr/>
        </p:nvSpPr>
        <p:spPr>
          <a:xfrm>
            <a:off x="967374" y="2955003"/>
            <a:ext cx="1371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High Resolution Imagery</a:t>
            </a:r>
            <a:endParaRPr lang="en-IN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CA2F5E-E19E-C8B8-94D9-631AE0A6E05F}"/>
              </a:ext>
            </a:extLst>
          </p:cNvPr>
          <p:cNvSpPr txBox="1"/>
          <p:nvPr/>
        </p:nvSpPr>
        <p:spPr>
          <a:xfrm>
            <a:off x="990831" y="3599708"/>
            <a:ext cx="1234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SAR</a:t>
            </a:r>
            <a:endParaRPr lang="en-IN" sz="12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E69571-32FB-1DBE-D4C1-2220056AD9DE}"/>
              </a:ext>
            </a:extLst>
          </p:cNvPr>
          <p:cNvSpPr txBox="1"/>
          <p:nvPr/>
        </p:nvSpPr>
        <p:spPr>
          <a:xfrm>
            <a:off x="980500" y="3850241"/>
            <a:ext cx="1329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All-Weather Radar Data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C40BA7-9702-E17C-600C-1F1BB54AAFB5}"/>
              </a:ext>
            </a:extLst>
          </p:cNvPr>
          <p:cNvSpPr txBox="1"/>
          <p:nvPr/>
        </p:nvSpPr>
        <p:spPr>
          <a:xfrm>
            <a:off x="985935" y="4495612"/>
            <a:ext cx="1234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THERMAL</a:t>
            </a:r>
            <a:endParaRPr lang="en-IN" sz="12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29E755-2824-E4DF-F85A-D0D25DE6434B}"/>
              </a:ext>
            </a:extLst>
          </p:cNvPr>
          <p:cNvSpPr txBox="1"/>
          <p:nvPr/>
        </p:nvSpPr>
        <p:spPr>
          <a:xfrm>
            <a:off x="976413" y="4744245"/>
            <a:ext cx="1815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Heat &amp; Emission Information</a:t>
            </a:r>
            <a:endParaRPr lang="en-IN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7AAEB3-E6ED-3631-63B7-7FE7C97C2ADE}"/>
              </a:ext>
            </a:extLst>
          </p:cNvPr>
          <p:cNvSpPr txBox="1"/>
          <p:nvPr/>
        </p:nvSpPr>
        <p:spPr>
          <a:xfrm>
            <a:off x="967374" y="5424617"/>
            <a:ext cx="1234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DEM</a:t>
            </a:r>
            <a:endParaRPr lang="en-IN" sz="12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126F47-C8DB-F486-13DF-16EE1D74BD5F}"/>
              </a:ext>
            </a:extLst>
          </p:cNvPr>
          <p:cNvSpPr txBox="1"/>
          <p:nvPr/>
        </p:nvSpPr>
        <p:spPr>
          <a:xfrm>
            <a:off x="967374" y="5615895"/>
            <a:ext cx="1355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Elevation &amp; Terrain Data</a:t>
            </a:r>
            <a:endParaRPr lang="en-IN" sz="1200" dirty="0"/>
          </a:p>
        </p:txBody>
      </p:sp>
      <p:pic>
        <p:nvPicPr>
          <p:cNvPr id="17415" name="Picture 17414">
            <a:extLst>
              <a:ext uri="{FF2B5EF4-FFF2-40B4-BE49-F238E27FC236}">
                <a16:creationId xmlns:a16="http://schemas.microsoft.com/office/drawing/2014/main" id="{4E23C225-FCE7-C6E0-E4E1-4372A0DA11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1359" y="3387525"/>
            <a:ext cx="1006964" cy="1065459"/>
          </a:xfrm>
          <a:prstGeom prst="rect">
            <a:avLst/>
          </a:prstGeom>
        </p:spPr>
      </p:pic>
      <p:sp>
        <p:nvSpPr>
          <p:cNvPr id="17416" name="TextBox 17415">
            <a:extLst>
              <a:ext uri="{FF2B5EF4-FFF2-40B4-BE49-F238E27FC236}">
                <a16:creationId xmlns:a16="http://schemas.microsoft.com/office/drawing/2014/main" id="{3698B7FE-2B80-EC02-3C6A-E70DA8A2BDBD}"/>
              </a:ext>
            </a:extLst>
          </p:cNvPr>
          <p:cNvSpPr txBox="1"/>
          <p:nvPr/>
        </p:nvSpPr>
        <p:spPr>
          <a:xfrm>
            <a:off x="3673552" y="4794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4E82D6BB-0060-EB3B-4432-B4EFFA603061}"/>
              </a:ext>
            </a:extLst>
          </p:cNvPr>
          <p:cNvSpPr txBox="1"/>
          <p:nvPr/>
        </p:nvSpPr>
        <p:spPr>
          <a:xfrm>
            <a:off x="2614228" y="2577431"/>
            <a:ext cx="1521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PHYSICS-FIRST REPRESENTATION</a:t>
            </a:r>
            <a:endParaRPr lang="en-IN" sz="1200" dirty="0">
              <a:solidFill>
                <a:schemeClr val="accent3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7422" name="Picture 17421">
            <a:extLst>
              <a:ext uri="{FF2B5EF4-FFF2-40B4-BE49-F238E27FC236}">
                <a16:creationId xmlns:a16="http://schemas.microsoft.com/office/drawing/2014/main" id="{2D116937-4094-7EFA-209B-24CE30AA3A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2190" y="3391366"/>
            <a:ext cx="1347630" cy="1058513"/>
          </a:xfrm>
          <a:prstGeom prst="rect">
            <a:avLst/>
          </a:prstGeom>
        </p:spPr>
      </p:pic>
      <p:sp>
        <p:nvSpPr>
          <p:cNvPr id="17426" name="TextBox 17425">
            <a:extLst>
              <a:ext uri="{FF2B5EF4-FFF2-40B4-BE49-F238E27FC236}">
                <a16:creationId xmlns:a16="http://schemas.microsoft.com/office/drawing/2014/main" id="{7E446592-3357-15C0-1513-D873B5D66599}"/>
              </a:ext>
            </a:extLst>
          </p:cNvPr>
          <p:cNvSpPr txBox="1"/>
          <p:nvPr/>
        </p:nvSpPr>
        <p:spPr>
          <a:xfrm>
            <a:off x="2628458" y="4452984"/>
            <a:ext cx="1599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Convert raw data into physical features invariant to conditions &amp; sensors</a:t>
            </a:r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84ACC684-7325-635C-CB2C-C0A3303343F4}"/>
              </a:ext>
            </a:extLst>
          </p:cNvPr>
          <p:cNvSpPr txBox="1"/>
          <p:nvPr/>
        </p:nvSpPr>
        <p:spPr>
          <a:xfrm>
            <a:off x="4231533" y="2577431"/>
            <a:ext cx="1697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+mj-lt"/>
              </a:rPr>
              <a:t>GEO-MAMBA 3.0 BACKBONE</a:t>
            </a:r>
            <a:endParaRPr lang="en-IN" sz="1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483" name="Rectangle: Rounded Corners 17482">
            <a:extLst>
              <a:ext uri="{FF2B5EF4-FFF2-40B4-BE49-F238E27FC236}">
                <a16:creationId xmlns:a16="http://schemas.microsoft.com/office/drawing/2014/main" id="{5F5AAAD2-8EEC-0D4A-DBE8-8232C3F0BE53}"/>
              </a:ext>
            </a:extLst>
          </p:cNvPr>
          <p:cNvSpPr/>
          <p:nvPr/>
        </p:nvSpPr>
        <p:spPr>
          <a:xfrm>
            <a:off x="9632084" y="2360689"/>
            <a:ext cx="2470788" cy="381089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517" name="Picture 17516">
            <a:extLst>
              <a:ext uri="{FF2B5EF4-FFF2-40B4-BE49-F238E27FC236}">
                <a16:creationId xmlns:a16="http://schemas.microsoft.com/office/drawing/2014/main" id="{5DFD8B9B-ACA8-4D5E-E70A-FE0DBB47D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732" y="3674801"/>
            <a:ext cx="463574" cy="349268"/>
          </a:xfrm>
          <a:prstGeom prst="rect">
            <a:avLst/>
          </a:prstGeom>
        </p:spPr>
      </p:pic>
      <p:sp>
        <p:nvSpPr>
          <p:cNvPr id="17519" name="TextBox 17518">
            <a:extLst>
              <a:ext uri="{FF2B5EF4-FFF2-40B4-BE49-F238E27FC236}">
                <a16:creationId xmlns:a16="http://schemas.microsoft.com/office/drawing/2014/main" id="{E85CD9CC-DAE0-1D60-F070-A17B19ECDF37}"/>
              </a:ext>
            </a:extLst>
          </p:cNvPr>
          <p:cNvSpPr txBox="1"/>
          <p:nvPr/>
        </p:nvSpPr>
        <p:spPr>
          <a:xfrm>
            <a:off x="4360670" y="4447033"/>
            <a:ext cx="1599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Linear State Space Model learns and tracks patterns across space and time efficiently.</a:t>
            </a:r>
          </a:p>
        </p:txBody>
      </p:sp>
      <p:pic>
        <p:nvPicPr>
          <p:cNvPr id="17521" name="Picture 17520">
            <a:extLst>
              <a:ext uri="{FF2B5EF4-FFF2-40B4-BE49-F238E27FC236}">
                <a16:creationId xmlns:a16="http://schemas.microsoft.com/office/drawing/2014/main" id="{5B69A23C-229E-201D-32F6-FB3CFE33501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83714" y="3424909"/>
            <a:ext cx="1071303" cy="1018033"/>
          </a:xfrm>
          <a:prstGeom prst="rect">
            <a:avLst/>
          </a:prstGeom>
        </p:spPr>
      </p:pic>
      <p:sp>
        <p:nvSpPr>
          <p:cNvPr id="17523" name="TextBox 17522">
            <a:extLst>
              <a:ext uri="{FF2B5EF4-FFF2-40B4-BE49-F238E27FC236}">
                <a16:creationId xmlns:a16="http://schemas.microsoft.com/office/drawing/2014/main" id="{57E73120-621E-4926-01A2-54825F855CA0}"/>
              </a:ext>
            </a:extLst>
          </p:cNvPr>
          <p:cNvSpPr txBox="1"/>
          <p:nvPr/>
        </p:nvSpPr>
        <p:spPr>
          <a:xfrm>
            <a:off x="6842663" y="48033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7525" name="TextBox 17524">
            <a:extLst>
              <a:ext uri="{FF2B5EF4-FFF2-40B4-BE49-F238E27FC236}">
                <a16:creationId xmlns:a16="http://schemas.microsoft.com/office/drawing/2014/main" id="{9AD8B66E-546C-6FFD-0FA9-351E89DBB7C6}"/>
              </a:ext>
            </a:extLst>
          </p:cNvPr>
          <p:cNvSpPr txBox="1"/>
          <p:nvPr/>
        </p:nvSpPr>
        <p:spPr>
          <a:xfrm>
            <a:off x="6020713" y="2595597"/>
            <a:ext cx="164389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SPECIALIST AGENT</a:t>
            </a:r>
          </a:p>
          <a:p>
            <a:pPr algn="ctr"/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ROUTING (SANKALPA-PARAM)</a:t>
            </a:r>
            <a:endParaRPr lang="en-IN" sz="1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7527" name="Picture 17526">
            <a:extLst>
              <a:ext uri="{FF2B5EF4-FFF2-40B4-BE49-F238E27FC236}">
                <a16:creationId xmlns:a16="http://schemas.microsoft.com/office/drawing/2014/main" id="{947FCCE6-0BEA-0A63-7DA1-C42CA3A1CED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213"/>
          <a:stretch>
            <a:fillRect/>
          </a:stretch>
        </p:blipFill>
        <p:spPr>
          <a:xfrm>
            <a:off x="8075549" y="3326212"/>
            <a:ext cx="1041533" cy="1169400"/>
          </a:xfrm>
          <a:prstGeom prst="rect">
            <a:avLst/>
          </a:prstGeom>
        </p:spPr>
      </p:pic>
      <p:sp>
        <p:nvSpPr>
          <p:cNvPr id="17531" name="TextBox 17530">
            <a:extLst>
              <a:ext uri="{FF2B5EF4-FFF2-40B4-BE49-F238E27FC236}">
                <a16:creationId xmlns:a16="http://schemas.microsoft.com/office/drawing/2014/main" id="{E5CA1570-0D1B-E08A-D162-0C180EF55E3D}"/>
              </a:ext>
            </a:extLst>
          </p:cNvPr>
          <p:cNvSpPr txBox="1"/>
          <p:nvPr/>
        </p:nvSpPr>
        <p:spPr>
          <a:xfrm>
            <a:off x="7747683" y="2593217"/>
            <a:ext cx="1697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CAUSAL &amp; PHYSICS VALIDATION</a:t>
            </a:r>
            <a:endParaRPr lang="en-IN" sz="1200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7533" name="Picture 17532">
            <a:extLst>
              <a:ext uri="{FF2B5EF4-FFF2-40B4-BE49-F238E27FC236}">
                <a16:creationId xmlns:a16="http://schemas.microsoft.com/office/drawing/2014/main" id="{56277C54-2681-3E22-8B66-A34242E72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473" y="3702073"/>
            <a:ext cx="463574" cy="349268"/>
          </a:xfrm>
          <a:prstGeom prst="rect">
            <a:avLst/>
          </a:prstGeom>
        </p:spPr>
      </p:pic>
      <p:sp>
        <p:nvSpPr>
          <p:cNvPr id="17535" name="TextBox 17534">
            <a:extLst>
              <a:ext uri="{FF2B5EF4-FFF2-40B4-BE49-F238E27FC236}">
                <a16:creationId xmlns:a16="http://schemas.microsoft.com/office/drawing/2014/main" id="{817F272B-3A92-3081-FFE1-45DCE8EE0F4E}"/>
              </a:ext>
            </a:extLst>
          </p:cNvPr>
          <p:cNvSpPr txBox="1"/>
          <p:nvPr/>
        </p:nvSpPr>
        <p:spPr>
          <a:xfrm>
            <a:off x="7796033" y="4449283"/>
            <a:ext cx="1884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Causal reasoning, uncertainty quantification &amp; hard physics rules ensure reliable and explainable predictions.</a:t>
            </a:r>
          </a:p>
        </p:txBody>
      </p:sp>
      <p:pic>
        <p:nvPicPr>
          <p:cNvPr id="17544" name="Picture 17543">
            <a:extLst>
              <a:ext uri="{FF2B5EF4-FFF2-40B4-BE49-F238E27FC236}">
                <a16:creationId xmlns:a16="http://schemas.microsoft.com/office/drawing/2014/main" id="{5E807B8D-F087-4B5D-E8C0-F2167497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820" y="3674801"/>
            <a:ext cx="463574" cy="349268"/>
          </a:xfrm>
          <a:prstGeom prst="rect">
            <a:avLst/>
          </a:prstGeom>
        </p:spPr>
      </p:pic>
      <p:pic>
        <p:nvPicPr>
          <p:cNvPr id="17548" name="Picture 17547">
            <a:extLst>
              <a:ext uri="{FF2B5EF4-FFF2-40B4-BE49-F238E27FC236}">
                <a16:creationId xmlns:a16="http://schemas.microsoft.com/office/drawing/2014/main" id="{ECF38887-DCCA-31D0-A061-B1BF5D8FA9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4326" y="2640616"/>
            <a:ext cx="710085" cy="740958"/>
          </a:xfrm>
          <a:prstGeom prst="rect">
            <a:avLst/>
          </a:prstGeom>
        </p:spPr>
      </p:pic>
      <p:pic>
        <p:nvPicPr>
          <p:cNvPr id="17550" name="Picture 17549">
            <a:extLst>
              <a:ext uri="{FF2B5EF4-FFF2-40B4-BE49-F238E27FC236}">
                <a16:creationId xmlns:a16="http://schemas.microsoft.com/office/drawing/2014/main" id="{C25B0F6B-E2A1-9D25-776A-93BFE5A4D8B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01460" y="3455974"/>
            <a:ext cx="755847" cy="786698"/>
          </a:xfrm>
          <a:prstGeom prst="rect">
            <a:avLst/>
          </a:prstGeom>
        </p:spPr>
      </p:pic>
      <p:pic>
        <p:nvPicPr>
          <p:cNvPr id="17552" name="Picture 17551">
            <a:extLst>
              <a:ext uri="{FF2B5EF4-FFF2-40B4-BE49-F238E27FC236}">
                <a16:creationId xmlns:a16="http://schemas.microsoft.com/office/drawing/2014/main" id="{03547F1D-4D6D-040D-BEF6-A5B4EC5AD4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2383" y="4315964"/>
            <a:ext cx="784742" cy="801679"/>
          </a:xfrm>
          <a:prstGeom prst="rect">
            <a:avLst/>
          </a:prstGeom>
        </p:spPr>
      </p:pic>
      <p:sp>
        <p:nvSpPr>
          <p:cNvPr id="17553" name="TextBox 17552">
            <a:extLst>
              <a:ext uri="{FF2B5EF4-FFF2-40B4-BE49-F238E27FC236}">
                <a16:creationId xmlns:a16="http://schemas.microsoft.com/office/drawing/2014/main" id="{543F6AF8-DBAF-398D-C777-01814984B250}"/>
              </a:ext>
            </a:extLst>
          </p:cNvPr>
          <p:cNvSpPr txBox="1"/>
          <p:nvPr/>
        </p:nvSpPr>
        <p:spPr>
          <a:xfrm>
            <a:off x="10372698" y="2682516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RISKS MAPS</a:t>
            </a:r>
            <a:endParaRPr lang="en-IN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554" name="TextBox 17553">
            <a:extLst>
              <a:ext uri="{FF2B5EF4-FFF2-40B4-BE49-F238E27FC236}">
                <a16:creationId xmlns:a16="http://schemas.microsoft.com/office/drawing/2014/main" id="{9B8CE2ED-26CC-04E4-5525-EBD1566FFA1E}"/>
              </a:ext>
            </a:extLst>
          </p:cNvPr>
          <p:cNvSpPr txBox="1"/>
          <p:nvPr/>
        </p:nvSpPr>
        <p:spPr>
          <a:xfrm>
            <a:off x="10397405" y="2964389"/>
            <a:ext cx="1306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Where is the risk?</a:t>
            </a:r>
            <a:endParaRPr lang="en-IN" sz="1200" dirty="0"/>
          </a:p>
        </p:txBody>
      </p:sp>
      <p:sp>
        <p:nvSpPr>
          <p:cNvPr id="17558" name="TextBox 17557">
            <a:extLst>
              <a:ext uri="{FF2B5EF4-FFF2-40B4-BE49-F238E27FC236}">
                <a16:creationId xmlns:a16="http://schemas.microsoft.com/office/drawing/2014/main" id="{64E07581-7309-1DD3-DCAE-91115126CFFB}"/>
              </a:ext>
            </a:extLst>
          </p:cNvPr>
          <p:cNvSpPr txBox="1"/>
          <p:nvPr/>
        </p:nvSpPr>
        <p:spPr>
          <a:xfrm>
            <a:off x="10377462" y="3522365"/>
            <a:ext cx="1367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CHANGE MASKS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17560" name="TextBox 17559">
            <a:extLst>
              <a:ext uri="{FF2B5EF4-FFF2-40B4-BE49-F238E27FC236}">
                <a16:creationId xmlns:a16="http://schemas.microsoft.com/office/drawing/2014/main" id="{0E49FED2-47B4-48B3-96CF-FA66283FE053}"/>
              </a:ext>
            </a:extLst>
          </p:cNvPr>
          <p:cNvSpPr txBox="1"/>
          <p:nvPr/>
        </p:nvSpPr>
        <p:spPr>
          <a:xfrm>
            <a:off x="10407989" y="3807133"/>
            <a:ext cx="1408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What has changed?</a:t>
            </a:r>
            <a:endParaRPr lang="en-IN" sz="1200" dirty="0"/>
          </a:p>
        </p:txBody>
      </p:sp>
      <p:sp>
        <p:nvSpPr>
          <p:cNvPr id="17567" name="TextBox 17566">
            <a:extLst>
              <a:ext uri="{FF2B5EF4-FFF2-40B4-BE49-F238E27FC236}">
                <a16:creationId xmlns:a16="http://schemas.microsoft.com/office/drawing/2014/main" id="{AB442A4A-2644-E6D5-498A-B618C7ACB3E7}"/>
              </a:ext>
            </a:extLst>
          </p:cNvPr>
          <p:cNvSpPr txBox="1"/>
          <p:nvPr/>
        </p:nvSpPr>
        <p:spPr>
          <a:xfrm>
            <a:off x="10424411" y="4418522"/>
            <a:ext cx="7174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ALERTS</a:t>
            </a:r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569" name="TextBox 17568">
            <a:extLst>
              <a:ext uri="{FF2B5EF4-FFF2-40B4-BE49-F238E27FC236}">
                <a16:creationId xmlns:a16="http://schemas.microsoft.com/office/drawing/2014/main" id="{B543F51F-4E5E-7C7B-986C-E2967614382C}"/>
              </a:ext>
            </a:extLst>
          </p:cNvPr>
          <p:cNvSpPr txBox="1"/>
          <p:nvPr/>
        </p:nvSpPr>
        <p:spPr>
          <a:xfrm>
            <a:off x="10434414" y="4685543"/>
            <a:ext cx="11476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Act in real-time</a:t>
            </a:r>
            <a:endParaRPr lang="en-IN" sz="1200" dirty="0"/>
          </a:p>
        </p:txBody>
      </p:sp>
      <p:grpSp>
        <p:nvGrpSpPr>
          <p:cNvPr id="17573" name="Group 17572">
            <a:extLst>
              <a:ext uri="{FF2B5EF4-FFF2-40B4-BE49-F238E27FC236}">
                <a16:creationId xmlns:a16="http://schemas.microsoft.com/office/drawing/2014/main" id="{582631AD-26DB-990E-4194-1E23EE5A2C4D}"/>
              </a:ext>
            </a:extLst>
          </p:cNvPr>
          <p:cNvGrpSpPr/>
          <p:nvPr/>
        </p:nvGrpSpPr>
        <p:grpSpPr>
          <a:xfrm>
            <a:off x="3179607" y="2161351"/>
            <a:ext cx="390466" cy="401965"/>
            <a:chOff x="4227725" y="1768642"/>
            <a:chExt cx="390466" cy="401965"/>
          </a:xfrm>
        </p:grpSpPr>
        <p:sp>
          <p:nvSpPr>
            <p:cNvPr id="17571" name="Oval 17570">
              <a:extLst>
                <a:ext uri="{FF2B5EF4-FFF2-40B4-BE49-F238E27FC236}">
                  <a16:creationId xmlns:a16="http://schemas.microsoft.com/office/drawing/2014/main" id="{B7A8237D-9683-4738-29BD-6DEA3749EAB7}"/>
                </a:ext>
              </a:extLst>
            </p:cNvPr>
            <p:cNvSpPr/>
            <p:nvPr/>
          </p:nvSpPr>
          <p:spPr>
            <a:xfrm>
              <a:off x="4227725" y="1768642"/>
              <a:ext cx="390466" cy="401965"/>
            </a:xfrm>
            <a:prstGeom prst="ellips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572" name="TextBox 17571">
              <a:extLst>
                <a:ext uri="{FF2B5EF4-FFF2-40B4-BE49-F238E27FC236}">
                  <a16:creationId xmlns:a16="http://schemas.microsoft.com/office/drawing/2014/main" id="{3F8DED32-B2F0-31BC-5BAE-867DA0F159D1}"/>
                </a:ext>
              </a:extLst>
            </p:cNvPr>
            <p:cNvSpPr txBox="1"/>
            <p:nvPr/>
          </p:nvSpPr>
          <p:spPr>
            <a:xfrm>
              <a:off x="4276886" y="17849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N" dirty="0"/>
            </a:p>
          </p:txBody>
        </p:sp>
      </p:grpSp>
      <p:sp>
        <p:nvSpPr>
          <p:cNvPr id="17574" name="TextBox 17573">
            <a:extLst>
              <a:ext uri="{FF2B5EF4-FFF2-40B4-BE49-F238E27FC236}">
                <a16:creationId xmlns:a16="http://schemas.microsoft.com/office/drawing/2014/main" id="{4FD23B09-B1D4-5004-38BE-56D280B0A253}"/>
              </a:ext>
            </a:extLst>
          </p:cNvPr>
          <p:cNvSpPr txBox="1"/>
          <p:nvPr/>
        </p:nvSpPr>
        <p:spPr>
          <a:xfrm>
            <a:off x="2644218" y="3016650"/>
            <a:ext cx="14654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128-D Physics Manifold</a:t>
            </a:r>
          </a:p>
          <a:p>
            <a:pPr algn="ctr"/>
            <a:r>
              <a:rPr lang="en-US" sz="1050" dirty="0"/>
              <a:t>(SIRTI + Indices)</a:t>
            </a:r>
            <a:endParaRPr lang="en-IN" sz="1050" dirty="0"/>
          </a:p>
        </p:txBody>
      </p:sp>
      <p:grpSp>
        <p:nvGrpSpPr>
          <p:cNvPr id="17575" name="Group 17574">
            <a:extLst>
              <a:ext uri="{FF2B5EF4-FFF2-40B4-BE49-F238E27FC236}">
                <a16:creationId xmlns:a16="http://schemas.microsoft.com/office/drawing/2014/main" id="{44961093-B2A5-4BF5-3397-D6F857776376}"/>
              </a:ext>
            </a:extLst>
          </p:cNvPr>
          <p:cNvGrpSpPr/>
          <p:nvPr/>
        </p:nvGrpSpPr>
        <p:grpSpPr>
          <a:xfrm>
            <a:off x="4884933" y="2177667"/>
            <a:ext cx="390466" cy="401965"/>
            <a:chOff x="4227725" y="1768642"/>
            <a:chExt cx="390466" cy="401965"/>
          </a:xfrm>
        </p:grpSpPr>
        <p:sp>
          <p:nvSpPr>
            <p:cNvPr id="17576" name="Oval 17575">
              <a:extLst>
                <a:ext uri="{FF2B5EF4-FFF2-40B4-BE49-F238E27FC236}">
                  <a16:creationId xmlns:a16="http://schemas.microsoft.com/office/drawing/2014/main" id="{70B96A05-241E-7B1A-5AA0-FF63BF595117}"/>
                </a:ext>
              </a:extLst>
            </p:cNvPr>
            <p:cNvSpPr/>
            <p:nvPr/>
          </p:nvSpPr>
          <p:spPr>
            <a:xfrm>
              <a:off x="4227725" y="1768642"/>
              <a:ext cx="390466" cy="401965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577" name="TextBox 17576">
              <a:extLst>
                <a:ext uri="{FF2B5EF4-FFF2-40B4-BE49-F238E27FC236}">
                  <a16:creationId xmlns:a16="http://schemas.microsoft.com/office/drawing/2014/main" id="{EB6A3987-1BAA-8497-C000-091AFB404DCC}"/>
                </a:ext>
              </a:extLst>
            </p:cNvPr>
            <p:cNvSpPr txBox="1"/>
            <p:nvPr/>
          </p:nvSpPr>
          <p:spPr>
            <a:xfrm>
              <a:off x="4276886" y="17849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en-IN" dirty="0"/>
            </a:p>
          </p:txBody>
        </p:sp>
      </p:grpSp>
      <p:sp>
        <p:nvSpPr>
          <p:cNvPr id="17578" name="TextBox 17577">
            <a:extLst>
              <a:ext uri="{FF2B5EF4-FFF2-40B4-BE49-F238E27FC236}">
                <a16:creationId xmlns:a16="http://schemas.microsoft.com/office/drawing/2014/main" id="{CA2A4BEE-B0D0-BAE9-A25A-8700B65CABF8}"/>
              </a:ext>
            </a:extLst>
          </p:cNvPr>
          <p:cNvSpPr txBox="1"/>
          <p:nvPr/>
        </p:nvSpPr>
        <p:spPr>
          <a:xfrm>
            <a:off x="4381096" y="3019383"/>
            <a:ext cx="13981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Spatio-Temporal Understanding</a:t>
            </a:r>
            <a:endParaRPr lang="en-IN" sz="1050" dirty="0"/>
          </a:p>
        </p:txBody>
      </p:sp>
      <p:sp>
        <p:nvSpPr>
          <p:cNvPr id="17579" name="TextBox 17578">
            <a:extLst>
              <a:ext uri="{FF2B5EF4-FFF2-40B4-BE49-F238E27FC236}">
                <a16:creationId xmlns:a16="http://schemas.microsoft.com/office/drawing/2014/main" id="{732CB86A-AAE5-7DDE-0B9E-77E020BB8704}"/>
              </a:ext>
            </a:extLst>
          </p:cNvPr>
          <p:cNvSpPr txBox="1"/>
          <p:nvPr/>
        </p:nvSpPr>
        <p:spPr>
          <a:xfrm>
            <a:off x="6174443" y="3023904"/>
            <a:ext cx="134207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Navagraha Specialist</a:t>
            </a:r>
            <a:r>
              <a:rPr lang="en-IN" sz="1050" dirty="0"/>
              <a:t> Agents</a:t>
            </a:r>
            <a:endParaRPr lang="en-US" sz="1050" dirty="0"/>
          </a:p>
        </p:txBody>
      </p:sp>
      <p:grpSp>
        <p:nvGrpSpPr>
          <p:cNvPr id="17580" name="Group 17579">
            <a:extLst>
              <a:ext uri="{FF2B5EF4-FFF2-40B4-BE49-F238E27FC236}">
                <a16:creationId xmlns:a16="http://schemas.microsoft.com/office/drawing/2014/main" id="{8C2D5E89-A116-E225-1B42-7AEEA3E14942}"/>
              </a:ext>
            </a:extLst>
          </p:cNvPr>
          <p:cNvGrpSpPr/>
          <p:nvPr/>
        </p:nvGrpSpPr>
        <p:grpSpPr>
          <a:xfrm>
            <a:off x="6622974" y="2193983"/>
            <a:ext cx="390466" cy="401965"/>
            <a:chOff x="4227725" y="1768642"/>
            <a:chExt cx="390466" cy="401965"/>
          </a:xfrm>
        </p:grpSpPr>
        <p:sp>
          <p:nvSpPr>
            <p:cNvPr id="17581" name="Oval 17580">
              <a:extLst>
                <a:ext uri="{FF2B5EF4-FFF2-40B4-BE49-F238E27FC236}">
                  <a16:creationId xmlns:a16="http://schemas.microsoft.com/office/drawing/2014/main" id="{A80C80C6-1580-D445-3165-E85407A40BAB}"/>
                </a:ext>
              </a:extLst>
            </p:cNvPr>
            <p:cNvSpPr/>
            <p:nvPr/>
          </p:nvSpPr>
          <p:spPr>
            <a:xfrm>
              <a:off x="4227725" y="1768642"/>
              <a:ext cx="390466" cy="401965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582" name="TextBox 17581">
              <a:extLst>
                <a:ext uri="{FF2B5EF4-FFF2-40B4-BE49-F238E27FC236}">
                  <a16:creationId xmlns:a16="http://schemas.microsoft.com/office/drawing/2014/main" id="{78C259FE-0D5D-A90D-2238-B3685F9F6E32}"/>
                </a:ext>
              </a:extLst>
            </p:cNvPr>
            <p:cNvSpPr txBox="1"/>
            <p:nvPr/>
          </p:nvSpPr>
          <p:spPr>
            <a:xfrm>
              <a:off x="4276886" y="17849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en-IN" dirty="0"/>
            </a:p>
          </p:txBody>
        </p:sp>
      </p:grpSp>
      <p:grpSp>
        <p:nvGrpSpPr>
          <p:cNvPr id="17585" name="Group 17584">
            <a:extLst>
              <a:ext uri="{FF2B5EF4-FFF2-40B4-BE49-F238E27FC236}">
                <a16:creationId xmlns:a16="http://schemas.microsoft.com/office/drawing/2014/main" id="{45B71CC0-132E-7BBB-81E1-94AAB21CA0CB}"/>
              </a:ext>
            </a:extLst>
          </p:cNvPr>
          <p:cNvGrpSpPr/>
          <p:nvPr/>
        </p:nvGrpSpPr>
        <p:grpSpPr>
          <a:xfrm>
            <a:off x="8401083" y="2193983"/>
            <a:ext cx="390466" cy="401965"/>
            <a:chOff x="4227725" y="1768642"/>
            <a:chExt cx="390466" cy="401965"/>
          </a:xfrm>
        </p:grpSpPr>
        <p:sp>
          <p:nvSpPr>
            <p:cNvPr id="17586" name="Oval 17585">
              <a:extLst>
                <a:ext uri="{FF2B5EF4-FFF2-40B4-BE49-F238E27FC236}">
                  <a16:creationId xmlns:a16="http://schemas.microsoft.com/office/drawing/2014/main" id="{90493567-0F26-D1F5-2E09-7AC5090CC0C0}"/>
                </a:ext>
              </a:extLst>
            </p:cNvPr>
            <p:cNvSpPr/>
            <p:nvPr/>
          </p:nvSpPr>
          <p:spPr>
            <a:xfrm>
              <a:off x="4227725" y="1768642"/>
              <a:ext cx="390466" cy="401965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7587" name="TextBox 17586">
              <a:extLst>
                <a:ext uri="{FF2B5EF4-FFF2-40B4-BE49-F238E27FC236}">
                  <a16:creationId xmlns:a16="http://schemas.microsoft.com/office/drawing/2014/main" id="{284A226D-25E4-D4E3-2DB4-EE6E4813696D}"/>
                </a:ext>
              </a:extLst>
            </p:cNvPr>
            <p:cNvSpPr txBox="1"/>
            <p:nvPr/>
          </p:nvSpPr>
          <p:spPr>
            <a:xfrm>
              <a:off x="4276886" y="17849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  <a:endParaRPr lang="en-IN" dirty="0"/>
            </a:p>
          </p:txBody>
        </p:sp>
      </p:grpSp>
      <p:sp>
        <p:nvSpPr>
          <p:cNvPr id="17591" name="TextBox 17590">
            <a:extLst>
              <a:ext uri="{FF2B5EF4-FFF2-40B4-BE49-F238E27FC236}">
                <a16:creationId xmlns:a16="http://schemas.microsoft.com/office/drawing/2014/main" id="{52694ADB-3588-CD5C-53FF-8AEAAA9D7B2A}"/>
              </a:ext>
            </a:extLst>
          </p:cNvPr>
          <p:cNvSpPr txBox="1"/>
          <p:nvPr/>
        </p:nvSpPr>
        <p:spPr>
          <a:xfrm>
            <a:off x="7816821" y="3026875"/>
            <a:ext cx="16138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Vivek-Causal + GeoCP-v2 + Dharma-Chakra</a:t>
            </a:r>
          </a:p>
        </p:txBody>
      </p:sp>
      <p:pic>
        <p:nvPicPr>
          <p:cNvPr id="17593" name="Picture 17592">
            <a:extLst>
              <a:ext uri="{FF2B5EF4-FFF2-40B4-BE49-F238E27FC236}">
                <a16:creationId xmlns:a16="http://schemas.microsoft.com/office/drawing/2014/main" id="{47AB1425-54DE-5CE2-8EE2-3ECBD933C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082" y="3679839"/>
            <a:ext cx="463574" cy="349268"/>
          </a:xfrm>
          <a:prstGeom prst="rect">
            <a:avLst/>
          </a:prstGeom>
        </p:spPr>
      </p:pic>
      <p:sp>
        <p:nvSpPr>
          <p:cNvPr id="17596" name="TextBox 17595">
            <a:extLst>
              <a:ext uri="{FF2B5EF4-FFF2-40B4-BE49-F238E27FC236}">
                <a16:creationId xmlns:a16="http://schemas.microsoft.com/office/drawing/2014/main" id="{43E32F42-307D-BDC0-E763-202157BAE6EA}"/>
              </a:ext>
            </a:extLst>
          </p:cNvPr>
          <p:cNvSpPr txBox="1"/>
          <p:nvPr/>
        </p:nvSpPr>
        <p:spPr>
          <a:xfrm>
            <a:off x="5568510" y="5832158"/>
            <a:ext cx="2559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Continuous Feedback &amp; Learning</a:t>
            </a:r>
            <a:endParaRPr lang="en-IN" sz="1400" dirty="0"/>
          </a:p>
        </p:txBody>
      </p:sp>
      <p:pic>
        <p:nvPicPr>
          <p:cNvPr id="17602" name="Picture 17601">
            <a:extLst>
              <a:ext uri="{FF2B5EF4-FFF2-40B4-BE49-F238E27FC236}">
                <a16:creationId xmlns:a16="http://schemas.microsoft.com/office/drawing/2014/main" id="{B9369AD0-43B3-4CC0-9A2B-EC85E4BC54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85192" y="5196082"/>
            <a:ext cx="767865" cy="720906"/>
          </a:xfrm>
          <a:prstGeom prst="rect">
            <a:avLst/>
          </a:prstGeom>
        </p:spPr>
      </p:pic>
      <p:sp>
        <p:nvSpPr>
          <p:cNvPr id="17604" name="TextBox 17603">
            <a:extLst>
              <a:ext uri="{FF2B5EF4-FFF2-40B4-BE49-F238E27FC236}">
                <a16:creationId xmlns:a16="http://schemas.microsoft.com/office/drawing/2014/main" id="{780A6AFB-E017-DA8E-F371-9101207071D1}"/>
              </a:ext>
            </a:extLst>
          </p:cNvPr>
          <p:cNvSpPr txBox="1"/>
          <p:nvPr/>
        </p:nvSpPr>
        <p:spPr>
          <a:xfrm>
            <a:off x="10434414" y="5263555"/>
            <a:ext cx="1452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VQA &amp; CAPTIONS</a:t>
            </a:r>
            <a:endParaRPr lang="en-I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606" name="TextBox 17605">
            <a:extLst>
              <a:ext uri="{FF2B5EF4-FFF2-40B4-BE49-F238E27FC236}">
                <a16:creationId xmlns:a16="http://schemas.microsoft.com/office/drawing/2014/main" id="{21C3DE51-1E17-DDDD-071E-0DBD0577577C}"/>
              </a:ext>
            </a:extLst>
          </p:cNvPr>
          <p:cNvSpPr txBox="1"/>
          <p:nvPr/>
        </p:nvSpPr>
        <p:spPr>
          <a:xfrm>
            <a:off x="10410614" y="5520081"/>
            <a:ext cx="1692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Ask in natural language</a:t>
            </a:r>
            <a:endParaRPr lang="en-IN" sz="1200" dirty="0"/>
          </a:p>
        </p:txBody>
      </p:sp>
      <p:grpSp>
        <p:nvGrpSpPr>
          <p:cNvPr id="17622" name="Group 17621">
            <a:extLst>
              <a:ext uri="{FF2B5EF4-FFF2-40B4-BE49-F238E27FC236}">
                <a16:creationId xmlns:a16="http://schemas.microsoft.com/office/drawing/2014/main" id="{592825E6-FEFD-8F12-4B07-34496BBD2999}"/>
              </a:ext>
            </a:extLst>
          </p:cNvPr>
          <p:cNvGrpSpPr/>
          <p:nvPr/>
        </p:nvGrpSpPr>
        <p:grpSpPr>
          <a:xfrm>
            <a:off x="4731066" y="5458605"/>
            <a:ext cx="4252295" cy="411759"/>
            <a:chOff x="4731066" y="5458605"/>
            <a:chExt cx="4252295" cy="411759"/>
          </a:xfrm>
        </p:grpSpPr>
        <p:grpSp>
          <p:nvGrpSpPr>
            <p:cNvPr id="17615" name="Group 17614">
              <a:extLst>
                <a:ext uri="{FF2B5EF4-FFF2-40B4-BE49-F238E27FC236}">
                  <a16:creationId xmlns:a16="http://schemas.microsoft.com/office/drawing/2014/main" id="{E3DE3AA6-23C4-CD6C-FEAD-8FA1D18A8565}"/>
                </a:ext>
              </a:extLst>
            </p:cNvPr>
            <p:cNvGrpSpPr/>
            <p:nvPr/>
          </p:nvGrpSpPr>
          <p:grpSpPr>
            <a:xfrm>
              <a:off x="4731066" y="5464262"/>
              <a:ext cx="4252295" cy="406102"/>
              <a:chOff x="4731066" y="5464262"/>
              <a:chExt cx="4252295" cy="406102"/>
            </a:xfrm>
          </p:grpSpPr>
          <p:pic>
            <p:nvPicPr>
              <p:cNvPr id="17595" name="Picture 17594">
                <a:extLst>
                  <a:ext uri="{FF2B5EF4-FFF2-40B4-BE49-F238E27FC236}">
                    <a16:creationId xmlns:a16="http://schemas.microsoft.com/office/drawing/2014/main" id="{C4499B6F-F7F3-0D67-CF4B-5BE81886D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l="55315"/>
              <a:stretch>
                <a:fillRect/>
              </a:stretch>
            </p:blipFill>
            <p:spPr>
              <a:xfrm>
                <a:off x="8044732" y="5464946"/>
                <a:ext cx="938629" cy="405418"/>
              </a:xfrm>
              <a:prstGeom prst="rect">
                <a:avLst/>
              </a:prstGeom>
            </p:spPr>
          </p:pic>
          <p:pic>
            <p:nvPicPr>
              <p:cNvPr id="17608" name="Picture 17607">
                <a:extLst>
                  <a:ext uri="{FF2B5EF4-FFF2-40B4-BE49-F238E27FC236}">
                    <a16:creationId xmlns:a16="http://schemas.microsoft.com/office/drawing/2014/main" id="{C198C6D0-D207-3089-9617-566AF5C2C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l="16949" t="-152" r="31734" b="152"/>
              <a:stretch>
                <a:fillRect/>
              </a:stretch>
            </p:blipFill>
            <p:spPr>
              <a:xfrm>
                <a:off x="5909173" y="5464262"/>
                <a:ext cx="1077912" cy="405418"/>
              </a:xfrm>
              <a:prstGeom prst="rect">
                <a:avLst/>
              </a:prstGeom>
            </p:spPr>
          </p:pic>
          <p:pic>
            <p:nvPicPr>
              <p:cNvPr id="17610" name="Picture 17609">
                <a:extLst>
                  <a:ext uri="{FF2B5EF4-FFF2-40B4-BE49-F238E27FC236}">
                    <a16:creationId xmlns:a16="http://schemas.microsoft.com/office/drawing/2014/main" id="{35154D91-FB93-FA8F-EA75-DD650A208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r="56173"/>
              <a:stretch>
                <a:fillRect/>
              </a:stretch>
            </p:blipFill>
            <p:spPr>
              <a:xfrm>
                <a:off x="4731066" y="5473563"/>
                <a:ext cx="920606" cy="396801"/>
              </a:xfrm>
              <a:prstGeom prst="rect">
                <a:avLst/>
              </a:prstGeom>
            </p:spPr>
          </p:pic>
          <p:pic>
            <p:nvPicPr>
              <p:cNvPr id="17612" name="Picture 17611">
                <a:extLst>
                  <a:ext uri="{FF2B5EF4-FFF2-40B4-BE49-F238E27FC236}">
                    <a16:creationId xmlns:a16="http://schemas.microsoft.com/office/drawing/2014/main" id="{CEF5F720-8A81-5889-B01E-362606582B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l="16949" t="-152" r="31734" b="152"/>
              <a:stretch>
                <a:fillRect/>
              </a:stretch>
            </p:blipFill>
            <p:spPr>
              <a:xfrm>
                <a:off x="6987085" y="5464262"/>
                <a:ext cx="1077912" cy="405418"/>
              </a:xfrm>
              <a:prstGeom prst="rect">
                <a:avLst/>
              </a:prstGeom>
            </p:spPr>
          </p:pic>
          <p:pic>
            <p:nvPicPr>
              <p:cNvPr id="17614" name="Picture 17613">
                <a:extLst>
                  <a:ext uri="{FF2B5EF4-FFF2-40B4-BE49-F238E27FC236}">
                    <a16:creationId xmlns:a16="http://schemas.microsoft.com/office/drawing/2014/main" id="{BF96F205-4237-3BEF-5B15-4D11AA9650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l="16949" t="-152" r="69524" b="152"/>
              <a:stretch>
                <a:fillRect/>
              </a:stretch>
            </p:blipFill>
            <p:spPr>
              <a:xfrm>
                <a:off x="5641610" y="5464262"/>
                <a:ext cx="284136" cy="405418"/>
              </a:xfrm>
              <a:prstGeom prst="rect">
                <a:avLst/>
              </a:prstGeom>
            </p:spPr>
          </p:pic>
        </p:grpSp>
        <p:pic>
          <p:nvPicPr>
            <p:cNvPr id="17621" name="Picture 17620">
              <a:extLst>
                <a:ext uri="{FF2B5EF4-FFF2-40B4-BE49-F238E27FC236}">
                  <a16:creationId xmlns:a16="http://schemas.microsoft.com/office/drawing/2014/main" id="{2C26C3FE-B2B2-2F43-A553-66D9ADD1C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4434" r="86729" b="74597"/>
            <a:stretch>
              <a:fillRect/>
            </a:stretch>
          </p:blipFill>
          <p:spPr>
            <a:xfrm>
              <a:off x="8579999" y="5458605"/>
              <a:ext cx="185632" cy="1007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 Titans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A3002B6-F971-5EF5-F5BD-1541065C1761}"/>
              </a:ext>
            </a:extLst>
          </p:cNvPr>
          <p:cNvGrpSpPr/>
          <p:nvPr/>
        </p:nvGrpSpPr>
        <p:grpSpPr>
          <a:xfrm>
            <a:off x="689407" y="1102092"/>
            <a:ext cx="4793724" cy="762914"/>
            <a:chOff x="7471872" y="2935324"/>
            <a:chExt cx="3493670" cy="751520"/>
          </a:xfrm>
        </p:grpSpPr>
        <p:sp>
          <p:nvSpPr>
            <p:cNvPr id="9" name="Rounded Rectangle 1">
              <a:extLst>
                <a:ext uri="{FF2B5EF4-FFF2-40B4-BE49-F238E27FC236}">
                  <a16:creationId xmlns:a16="http://schemas.microsoft.com/office/drawing/2014/main" id="{2E85787E-032E-1301-A12E-1BF11757C089}"/>
                </a:ext>
              </a:extLst>
            </p:cNvPr>
            <p:cNvSpPr/>
            <p:nvPr/>
          </p:nvSpPr>
          <p:spPr>
            <a:xfrm>
              <a:off x="7471872" y="3023077"/>
              <a:ext cx="3426823" cy="66376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5D513D2B-4C2E-11EB-9DC1-B59781861EAE}"/>
                </a:ext>
              </a:extLst>
            </p:cNvPr>
            <p:cNvSpPr/>
            <p:nvPr/>
          </p:nvSpPr>
          <p:spPr>
            <a:xfrm>
              <a:off x="7538719" y="2935324"/>
              <a:ext cx="3426823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E638D95-A41E-C342-28A8-2847E7FF48D2}"/>
              </a:ext>
            </a:extLst>
          </p:cNvPr>
          <p:cNvSpPr txBox="1"/>
          <p:nvPr/>
        </p:nvSpPr>
        <p:spPr>
          <a:xfrm>
            <a:off x="2240414" y="1099902"/>
            <a:ext cx="172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  <a:p>
            <a:pPr algn="ctr"/>
            <a:r>
              <a:rPr lang="en-IN" sz="1600" i="1" dirty="0"/>
              <a:t>(Can we build it?)</a:t>
            </a:r>
            <a:endParaRPr lang="en-IN" sz="1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DB38CB-66D9-30E8-2C8A-E820A385EE6B}"/>
              </a:ext>
            </a:extLst>
          </p:cNvPr>
          <p:cNvGrpSpPr/>
          <p:nvPr/>
        </p:nvGrpSpPr>
        <p:grpSpPr>
          <a:xfrm>
            <a:off x="6739909" y="1095376"/>
            <a:ext cx="4781142" cy="769630"/>
            <a:chOff x="7538719" y="2935323"/>
            <a:chExt cx="3500561" cy="747308"/>
          </a:xfrm>
        </p:grpSpPr>
        <p:sp>
          <p:nvSpPr>
            <p:cNvPr id="16" name="Rounded Rectangle 1">
              <a:extLst>
                <a:ext uri="{FF2B5EF4-FFF2-40B4-BE49-F238E27FC236}">
                  <a16:creationId xmlns:a16="http://schemas.microsoft.com/office/drawing/2014/main" id="{216501E4-9D87-2E78-EE23-978742577C16}"/>
                </a:ext>
              </a:extLst>
            </p:cNvPr>
            <p:cNvSpPr/>
            <p:nvPr/>
          </p:nvSpPr>
          <p:spPr>
            <a:xfrm>
              <a:off x="7612458" y="3018863"/>
              <a:ext cx="3426822" cy="66376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Rounded Rectangle 2">
              <a:extLst>
                <a:ext uri="{FF2B5EF4-FFF2-40B4-BE49-F238E27FC236}">
                  <a16:creationId xmlns:a16="http://schemas.microsoft.com/office/drawing/2014/main" id="{A3061373-A006-3075-0ABF-3B8385558673}"/>
                </a:ext>
              </a:extLst>
            </p:cNvPr>
            <p:cNvSpPr/>
            <p:nvPr/>
          </p:nvSpPr>
          <p:spPr>
            <a:xfrm>
              <a:off x="7538719" y="2935323"/>
              <a:ext cx="3426822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18156D1-DB56-B93C-B84E-6842F8F3C5D1}"/>
              </a:ext>
            </a:extLst>
          </p:cNvPr>
          <p:cNvSpPr txBox="1"/>
          <p:nvPr/>
        </p:nvSpPr>
        <p:spPr>
          <a:xfrm>
            <a:off x="7148549" y="1117704"/>
            <a:ext cx="3776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VIABILITY </a:t>
            </a:r>
          </a:p>
          <a:p>
            <a:pPr algn="ctr"/>
            <a:r>
              <a:rPr lang="en-IN" sz="1600" i="1" dirty="0"/>
              <a:t>(Will it deliver impact?)</a:t>
            </a:r>
          </a:p>
          <a:p>
            <a:pPr algn="ctr"/>
            <a:endParaRPr lang="en-IN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46685F-950F-635F-E8FD-80364F62E407}"/>
              </a:ext>
            </a:extLst>
          </p:cNvPr>
          <p:cNvSpPr txBox="1"/>
          <p:nvPr/>
        </p:nvSpPr>
        <p:spPr>
          <a:xfrm>
            <a:off x="1486847" y="1928332"/>
            <a:ext cx="288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ACCESS TO DATA</a:t>
            </a:r>
            <a:r>
              <a:rPr lang="en-IN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72E6C3-FB2F-7C1B-D93C-6C595BA40037}"/>
              </a:ext>
            </a:extLst>
          </p:cNvPr>
          <p:cNvSpPr txBox="1"/>
          <p:nvPr/>
        </p:nvSpPr>
        <p:spPr>
          <a:xfrm>
            <a:off x="1486846" y="2766885"/>
            <a:ext cx="2543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PROVEN TECHNOLOGIES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D4A2CF-70DF-D1E1-C38E-50E227172EC1}"/>
              </a:ext>
            </a:extLst>
          </p:cNvPr>
          <p:cNvSpPr txBox="1"/>
          <p:nvPr/>
        </p:nvSpPr>
        <p:spPr>
          <a:xfrm>
            <a:off x="1475878" y="3656911"/>
            <a:ext cx="333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COMPUTE &amp; INFRASTRUCTURE</a:t>
            </a:r>
            <a:r>
              <a:rPr lang="en-IN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22CAEF-57BF-572E-9F21-04A84EA6D62A}"/>
              </a:ext>
            </a:extLst>
          </p:cNvPr>
          <p:cNvSpPr txBox="1"/>
          <p:nvPr/>
        </p:nvSpPr>
        <p:spPr>
          <a:xfrm>
            <a:off x="1486844" y="4537737"/>
            <a:ext cx="3298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TECHNICAL INTEGRATION</a:t>
            </a:r>
            <a:r>
              <a:rPr lang="en-IN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E0299-81EC-6E5F-BD83-3025CB6F6794}"/>
              </a:ext>
            </a:extLst>
          </p:cNvPr>
          <p:cNvSpPr txBox="1"/>
          <p:nvPr/>
        </p:nvSpPr>
        <p:spPr>
          <a:xfrm>
            <a:off x="1486846" y="5383825"/>
            <a:ext cx="3210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RISK MITIGATION</a:t>
            </a:r>
            <a:r>
              <a:rPr lang="en-IN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33DFB2-03D1-BF0B-9DC7-43C92C1F52AB}"/>
              </a:ext>
            </a:extLst>
          </p:cNvPr>
          <p:cNvSpPr txBox="1"/>
          <p:nvPr/>
        </p:nvSpPr>
        <p:spPr>
          <a:xfrm>
            <a:off x="1475879" y="2227572"/>
            <a:ext cx="4007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ISRO satellites (</a:t>
            </a:r>
            <a:r>
              <a:rPr lang="en-IN" sz="1400" dirty="0" err="1"/>
              <a:t>Cartosat</a:t>
            </a:r>
            <a:r>
              <a:rPr lang="en-IN" sz="1400" dirty="0"/>
              <a:t>, RISAT, </a:t>
            </a:r>
            <a:r>
              <a:rPr lang="en-IN" sz="1400" dirty="0" err="1"/>
              <a:t>Resourcesat</a:t>
            </a:r>
            <a:r>
              <a:rPr lang="en-IN" sz="1400" dirty="0"/>
              <a:t>) and open datasets (Sentinel, Landsat) available.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A91240-C9F7-C697-B454-672D3712C0EE}"/>
              </a:ext>
            </a:extLst>
          </p:cNvPr>
          <p:cNvSpPr txBox="1"/>
          <p:nvPr/>
        </p:nvSpPr>
        <p:spPr>
          <a:xfrm>
            <a:off x="1486845" y="3062003"/>
            <a:ext cx="3476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Proven AI &amp; SAR technologies ready to integrate.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36CED3-959D-8855-29D1-E37D3D6B93B5}"/>
              </a:ext>
            </a:extLst>
          </p:cNvPr>
          <p:cNvSpPr txBox="1"/>
          <p:nvPr/>
        </p:nvSpPr>
        <p:spPr>
          <a:xfrm>
            <a:off x="1480828" y="3950146"/>
            <a:ext cx="35170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Cloud/HPC + ISRO infrastructure support training &amp; inference.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E4D32E-DD6B-B328-3281-2455DD1BAFDA}"/>
              </a:ext>
            </a:extLst>
          </p:cNvPr>
          <p:cNvSpPr txBox="1"/>
          <p:nvPr/>
        </p:nvSpPr>
        <p:spPr>
          <a:xfrm>
            <a:off x="1486847" y="4849259"/>
            <a:ext cx="3073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Modular architecture fuses optical, SAR, DEM &amp; ancillary data.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17729-1A77-14EC-82D0-B9556D18D2BD}"/>
              </a:ext>
            </a:extLst>
          </p:cNvPr>
          <p:cNvSpPr txBox="1"/>
          <p:nvPr/>
        </p:nvSpPr>
        <p:spPr>
          <a:xfrm>
            <a:off x="1486846" y="5679099"/>
            <a:ext cx="36049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Physics-guided models + uncertainty estimation reduce false alarms.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17D049D-FBD9-C4ED-8D95-7784A2708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24" y="1973927"/>
            <a:ext cx="749339" cy="63503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9264DD-4B98-FF0C-5F7D-3493E83F8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18" y="2836406"/>
            <a:ext cx="749339" cy="72813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885AFA-9B3E-9FBA-732B-EE898BF9F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69" y="3776054"/>
            <a:ext cx="654084" cy="57788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2BBEC4E-B938-EE8F-8887-F884995437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69" y="4620004"/>
            <a:ext cx="740286" cy="68388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37558CB-5FA0-D4FA-2B06-895FCB3272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19" y="5486621"/>
            <a:ext cx="692186" cy="647733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9E03FBC-120E-A947-92AE-6A75253CE578}"/>
              </a:ext>
            </a:extLst>
          </p:cNvPr>
          <p:cNvSpPr/>
          <p:nvPr/>
        </p:nvSpPr>
        <p:spPr>
          <a:xfrm>
            <a:off x="687399" y="1921616"/>
            <a:ext cx="4842070" cy="4361832"/>
          </a:xfrm>
          <a:prstGeom prst="roundRect">
            <a:avLst>
              <a:gd name="adj" fmla="val 3841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33" name="TextBox 17432">
            <a:extLst>
              <a:ext uri="{FF2B5EF4-FFF2-40B4-BE49-F238E27FC236}">
                <a16:creationId xmlns:a16="http://schemas.microsoft.com/office/drawing/2014/main" id="{8630C3D9-813A-C3D9-2F8E-8C7F0E301C3C}"/>
              </a:ext>
            </a:extLst>
          </p:cNvPr>
          <p:cNvSpPr txBox="1"/>
          <p:nvPr/>
        </p:nvSpPr>
        <p:spPr>
          <a:xfrm>
            <a:off x="7474560" y="1928332"/>
            <a:ext cx="288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STRONG REAL-WORLD NEED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2238AC9B-F4D4-F8F2-76F7-9528767C1E98}"/>
              </a:ext>
            </a:extLst>
          </p:cNvPr>
          <p:cNvSpPr txBox="1"/>
          <p:nvPr/>
        </p:nvSpPr>
        <p:spPr>
          <a:xfrm>
            <a:off x="7474559" y="2869157"/>
            <a:ext cx="2543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MEASURABLE IMAPCT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014A2A81-BE6E-A949-31CF-A68064FC24AE}"/>
              </a:ext>
            </a:extLst>
          </p:cNvPr>
          <p:cNvSpPr txBox="1"/>
          <p:nvPr/>
        </p:nvSpPr>
        <p:spPr>
          <a:xfrm>
            <a:off x="7463591" y="3656911"/>
            <a:ext cx="333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SCALABLE &amp; COST EFFECTIVE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A7E9FDA0-0F0A-87B9-8967-0B15194C1EA6}"/>
              </a:ext>
            </a:extLst>
          </p:cNvPr>
          <p:cNvSpPr txBox="1"/>
          <p:nvPr/>
        </p:nvSpPr>
        <p:spPr>
          <a:xfrm>
            <a:off x="7474557" y="4597897"/>
            <a:ext cx="3298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SUSTAINABLE SOLUTION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C7AA0518-2567-1BB1-872D-B732C1296C63}"/>
              </a:ext>
            </a:extLst>
          </p:cNvPr>
          <p:cNvSpPr txBox="1"/>
          <p:nvPr/>
        </p:nvSpPr>
        <p:spPr>
          <a:xfrm>
            <a:off x="7474558" y="5383825"/>
            <a:ext cx="3542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ALIGNED WITH NATIONAL GOALS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443" name="TextBox 17442">
            <a:extLst>
              <a:ext uri="{FF2B5EF4-FFF2-40B4-BE49-F238E27FC236}">
                <a16:creationId xmlns:a16="http://schemas.microsoft.com/office/drawing/2014/main" id="{1E24C6DB-E6BC-36B0-EC29-5042FBAF039E}"/>
              </a:ext>
            </a:extLst>
          </p:cNvPr>
          <p:cNvSpPr txBox="1"/>
          <p:nvPr/>
        </p:nvSpPr>
        <p:spPr>
          <a:xfrm>
            <a:off x="7463592" y="2227572"/>
            <a:ext cx="361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Tackles national challenges: disasters, agriculture, </a:t>
            </a:r>
            <a:r>
              <a:rPr lang="en-IN" sz="1400" dirty="0" err="1"/>
              <a:t>defense</a:t>
            </a:r>
            <a:r>
              <a:rPr lang="en-IN" sz="1400" dirty="0"/>
              <a:t>, environment.</a:t>
            </a:r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B28F2A06-C1F8-5C22-D47B-574694E64DC7}"/>
              </a:ext>
            </a:extLst>
          </p:cNvPr>
          <p:cNvSpPr txBox="1"/>
          <p:nvPr/>
        </p:nvSpPr>
        <p:spPr>
          <a:xfrm>
            <a:off x="7474559" y="3164275"/>
            <a:ext cx="3989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Earlier warnings • Better decisions • Fewer losses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F9FB2399-9EBC-7661-F559-BBF36D56F2A9}"/>
              </a:ext>
            </a:extLst>
          </p:cNvPr>
          <p:cNvSpPr txBox="1"/>
          <p:nvPr/>
        </p:nvSpPr>
        <p:spPr>
          <a:xfrm>
            <a:off x="7468542" y="3950146"/>
            <a:ext cx="3456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Uses existing infrastructure; designed for nationwide scale.</a:t>
            </a:r>
          </a:p>
        </p:txBody>
      </p:sp>
      <p:sp>
        <p:nvSpPr>
          <p:cNvPr id="17449" name="TextBox 17448">
            <a:extLst>
              <a:ext uri="{FF2B5EF4-FFF2-40B4-BE49-F238E27FC236}">
                <a16:creationId xmlns:a16="http://schemas.microsoft.com/office/drawing/2014/main" id="{97E2E825-933D-455D-BC98-C606002ED3BA}"/>
              </a:ext>
            </a:extLst>
          </p:cNvPr>
          <p:cNvSpPr txBox="1"/>
          <p:nvPr/>
        </p:nvSpPr>
        <p:spPr>
          <a:xfrm>
            <a:off x="7474559" y="4909419"/>
            <a:ext cx="37322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Supports conservation &amp; climate resilience.</a:t>
            </a:r>
          </a:p>
        </p:txBody>
      </p:sp>
      <p:sp>
        <p:nvSpPr>
          <p:cNvPr id="17451" name="TextBox 17450">
            <a:extLst>
              <a:ext uri="{FF2B5EF4-FFF2-40B4-BE49-F238E27FC236}">
                <a16:creationId xmlns:a16="http://schemas.microsoft.com/office/drawing/2014/main" id="{C453BEC3-998F-30DC-45A2-31200B8D8EE9}"/>
              </a:ext>
            </a:extLst>
          </p:cNvPr>
          <p:cNvSpPr txBox="1"/>
          <p:nvPr/>
        </p:nvSpPr>
        <p:spPr>
          <a:xfrm>
            <a:off x="7474559" y="5679099"/>
            <a:ext cx="36049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Supports Digital India, Atmanirbhar Bharat, disaster-resilient Bharat.</a:t>
            </a:r>
          </a:p>
        </p:txBody>
      </p:sp>
      <p:pic>
        <p:nvPicPr>
          <p:cNvPr id="17453" name="Picture 17452">
            <a:extLst>
              <a:ext uri="{FF2B5EF4-FFF2-40B4-BE49-F238E27FC236}">
                <a16:creationId xmlns:a16="http://schemas.microsoft.com/office/drawing/2014/main" id="{D85845CD-3C46-1FA4-8EE3-B5F45809196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19737" y="1974156"/>
            <a:ext cx="749339" cy="634575"/>
          </a:xfrm>
          <a:prstGeom prst="rect">
            <a:avLst/>
          </a:prstGeom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D8366FB0-5112-90C5-81D2-B56402453F3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95743" y="2836406"/>
            <a:ext cx="706714" cy="728131"/>
          </a:xfrm>
          <a:prstGeom prst="rect">
            <a:avLst/>
          </a:prstGeom>
        </p:spPr>
      </p:pic>
      <p:pic>
        <p:nvPicPr>
          <p:cNvPr id="17457" name="Picture 17456">
            <a:extLst>
              <a:ext uri="{FF2B5EF4-FFF2-40B4-BE49-F238E27FC236}">
                <a16:creationId xmlns:a16="http://schemas.microsoft.com/office/drawing/2014/main" id="{758D282A-D2FC-35A0-3790-1146D4C225B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70480" y="3776054"/>
            <a:ext cx="537088" cy="577880"/>
          </a:xfrm>
          <a:prstGeom prst="rect">
            <a:avLst/>
          </a:prstGeom>
        </p:spPr>
      </p:pic>
      <p:pic>
        <p:nvPicPr>
          <p:cNvPr id="17459" name="Picture 17458">
            <a:extLst>
              <a:ext uri="{FF2B5EF4-FFF2-40B4-BE49-F238E27FC236}">
                <a16:creationId xmlns:a16="http://schemas.microsoft.com/office/drawing/2014/main" id="{004B481B-F486-D478-BEC1-587EEE25666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832411" y="4620004"/>
            <a:ext cx="699427" cy="683884"/>
          </a:xfrm>
          <a:prstGeom prst="rect">
            <a:avLst/>
          </a:prstGeom>
        </p:spPr>
      </p:pic>
      <p:pic>
        <p:nvPicPr>
          <p:cNvPr id="17461" name="Picture 17460">
            <a:extLst>
              <a:ext uri="{FF2B5EF4-FFF2-40B4-BE49-F238E27FC236}">
                <a16:creationId xmlns:a16="http://schemas.microsoft.com/office/drawing/2014/main" id="{5EB99AF6-85D4-516A-842A-FEC082516C9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874511" y="5392484"/>
            <a:ext cx="615226" cy="750441"/>
          </a:xfrm>
          <a:prstGeom prst="rect">
            <a:avLst/>
          </a:prstGeom>
        </p:spPr>
      </p:pic>
      <p:sp>
        <p:nvSpPr>
          <p:cNvPr id="17463" name="Rectangle: Rounded Corners 17462">
            <a:extLst>
              <a:ext uri="{FF2B5EF4-FFF2-40B4-BE49-F238E27FC236}">
                <a16:creationId xmlns:a16="http://schemas.microsoft.com/office/drawing/2014/main" id="{78E04F76-9999-7561-CCC0-64D745CB4125}"/>
              </a:ext>
            </a:extLst>
          </p:cNvPr>
          <p:cNvSpPr/>
          <p:nvPr/>
        </p:nvSpPr>
        <p:spPr>
          <a:xfrm>
            <a:off x="6675112" y="1921616"/>
            <a:ext cx="4842070" cy="4361832"/>
          </a:xfrm>
          <a:prstGeom prst="roundRect">
            <a:avLst>
              <a:gd name="adj" fmla="val 3841"/>
            </a:avLst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421AE5CB-84A3-2AE0-0720-7DC03177F0D7}"/>
              </a:ext>
            </a:extLst>
          </p:cNvPr>
          <p:cNvSpPr txBox="1"/>
          <p:nvPr/>
        </p:nvSpPr>
        <p:spPr>
          <a:xfrm>
            <a:off x="5713792" y="309932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BUILD</a:t>
            </a:r>
            <a:endParaRPr lang="en-IN" b="1" dirty="0"/>
          </a:p>
        </p:txBody>
      </p:sp>
      <p:sp>
        <p:nvSpPr>
          <p:cNvPr id="17469" name="TextBox 17468">
            <a:extLst>
              <a:ext uri="{FF2B5EF4-FFF2-40B4-BE49-F238E27FC236}">
                <a16:creationId xmlns:a16="http://schemas.microsoft.com/office/drawing/2014/main" id="{AFF0F999-CE73-8E5D-E4DB-7A1435CA5E19}"/>
              </a:ext>
            </a:extLst>
          </p:cNvPr>
          <p:cNvSpPr txBox="1"/>
          <p:nvPr/>
        </p:nvSpPr>
        <p:spPr>
          <a:xfrm>
            <a:off x="5566021" y="3857991"/>
            <a:ext cx="109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VALIDATE</a:t>
            </a:r>
            <a:endParaRPr lang="en-IN" b="1" dirty="0"/>
          </a:p>
        </p:txBody>
      </p:sp>
      <p:sp>
        <p:nvSpPr>
          <p:cNvPr id="17470" name="TextBox 17469">
            <a:extLst>
              <a:ext uri="{FF2B5EF4-FFF2-40B4-BE49-F238E27FC236}">
                <a16:creationId xmlns:a16="http://schemas.microsoft.com/office/drawing/2014/main" id="{4FC449E9-6C20-0833-FD0C-0B62EB535A4E}"/>
              </a:ext>
            </a:extLst>
          </p:cNvPr>
          <p:cNvSpPr txBox="1"/>
          <p:nvPr/>
        </p:nvSpPr>
        <p:spPr>
          <a:xfrm>
            <a:off x="5547192" y="4620004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SCALABLE</a:t>
            </a:r>
            <a:endParaRPr lang="en-IN" b="1" dirty="0"/>
          </a:p>
        </p:txBody>
      </p:sp>
      <p:pic>
        <p:nvPicPr>
          <p:cNvPr id="17472" name="Picture 17471">
            <a:extLst>
              <a:ext uri="{FF2B5EF4-FFF2-40B4-BE49-F238E27FC236}">
                <a16:creationId xmlns:a16="http://schemas.microsoft.com/office/drawing/2014/main" id="{38E4C2D1-3B52-7F95-FCAB-689BF08066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5869858" y="3486153"/>
            <a:ext cx="463574" cy="349268"/>
          </a:xfrm>
          <a:prstGeom prst="rect">
            <a:avLst/>
          </a:prstGeom>
        </p:spPr>
      </p:pic>
      <p:pic>
        <p:nvPicPr>
          <p:cNvPr id="17474" name="Picture 17473">
            <a:extLst>
              <a:ext uri="{FF2B5EF4-FFF2-40B4-BE49-F238E27FC236}">
                <a16:creationId xmlns:a16="http://schemas.microsoft.com/office/drawing/2014/main" id="{6EDB2FD4-DC39-F94F-FD4C-E9A6ED17E2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5879365" y="4267047"/>
            <a:ext cx="463574" cy="3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8746"/>
            <a:ext cx="12191999" cy="5092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 Titans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253DCA-E6AD-7036-6F6D-61A5AA91D0E2}"/>
              </a:ext>
            </a:extLst>
          </p:cNvPr>
          <p:cNvSpPr/>
          <p:nvPr/>
        </p:nvSpPr>
        <p:spPr>
          <a:xfrm>
            <a:off x="139962" y="2241922"/>
            <a:ext cx="4268537" cy="404152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C17F0D-65FE-6979-7B5B-D1B770D6414C}"/>
              </a:ext>
            </a:extLst>
          </p:cNvPr>
          <p:cNvGrpSpPr/>
          <p:nvPr/>
        </p:nvGrpSpPr>
        <p:grpSpPr>
          <a:xfrm>
            <a:off x="855105" y="1559868"/>
            <a:ext cx="2780938" cy="610739"/>
            <a:chOff x="7471872" y="2935324"/>
            <a:chExt cx="3493670" cy="751520"/>
          </a:xfrm>
        </p:grpSpPr>
        <p:sp>
          <p:nvSpPr>
            <p:cNvPr id="25" name="Rounded Rectangle 1">
              <a:extLst>
                <a:ext uri="{FF2B5EF4-FFF2-40B4-BE49-F238E27FC236}">
                  <a16:creationId xmlns:a16="http://schemas.microsoft.com/office/drawing/2014/main" id="{49C5C851-B370-2CA7-09EE-D5CEC52D7C5A}"/>
                </a:ext>
              </a:extLst>
            </p:cNvPr>
            <p:cNvSpPr/>
            <p:nvPr/>
          </p:nvSpPr>
          <p:spPr>
            <a:xfrm>
              <a:off x="7471872" y="3023077"/>
              <a:ext cx="3426823" cy="66376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99C99275-21DA-F856-5FBA-1AAB8CFE719E}"/>
                </a:ext>
              </a:extLst>
            </p:cNvPr>
            <p:cNvSpPr/>
            <p:nvPr/>
          </p:nvSpPr>
          <p:spPr>
            <a:xfrm>
              <a:off x="7538719" y="2935324"/>
              <a:ext cx="3426823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0F6048D-E9D9-4214-CA0A-A124961258DE}"/>
              </a:ext>
            </a:extLst>
          </p:cNvPr>
          <p:cNvSpPr txBox="1"/>
          <p:nvPr/>
        </p:nvSpPr>
        <p:spPr>
          <a:xfrm>
            <a:off x="1198755" y="1644914"/>
            <a:ext cx="251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WHO WE IMPACT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18BDB3A-E37F-AE59-43A2-BD4C1DD2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5" r="7569"/>
          <a:stretch>
            <a:fillRect/>
          </a:stretch>
        </p:blipFill>
        <p:spPr>
          <a:xfrm>
            <a:off x="5069454" y="2785604"/>
            <a:ext cx="2084972" cy="206443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4A1DF1F-0062-A47D-331D-3ACF4B90F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6" y="1364475"/>
            <a:ext cx="1775414" cy="145198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B2F351C-9FD6-1A6F-FDCC-27EA9932298C}"/>
              </a:ext>
            </a:extLst>
          </p:cNvPr>
          <p:cNvGrpSpPr/>
          <p:nvPr/>
        </p:nvGrpSpPr>
        <p:grpSpPr>
          <a:xfrm>
            <a:off x="8385718" y="1559636"/>
            <a:ext cx="2813750" cy="610971"/>
            <a:chOff x="7538719" y="2935323"/>
            <a:chExt cx="3500561" cy="747308"/>
          </a:xfrm>
        </p:grpSpPr>
        <p:sp>
          <p:nvSpPr>
            <p:cNvPr id="45" name="Rounded Rectangle 1">
              <a:extLst>
                <a:ext uri="{FF2B5EF4-FFF2-40B4-BE49-F238E27FC236}">
                  <a16:creationId xmlns:a16="http://schemas.microsoft.com/office/drawing/2014/main" id="{456D8518-A57C-FFFC-F822-5270EE2F54B8}"/>
                </a:ext>
              </a:extLst>
            </p:cNvPr>
            <p:cNvSpPr/>
            <p:nvPr/>
          </p:nvSpPr>
          <p:spPr>
            <a:xfrm>
              <a:off x="7612458" y="3018863"/>
              <a:ext cx="3426822" cy="6637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6" name="Rounded Rectangle 2">
              <a:extLst>
                <a:ext uri="{FF2B5EF4-FFF2-40B4-BE49-F238E27FC236}">
                  <a16:creationId xmlns:a16="http://schemas.microsoft.com/office/drawing/2014/main" id="{556BEE55-DDCA-4EB7-FBB0-FA12073FA1E6}"/>
                </a:ext>
              </a:extLst>
            </p:cNvPr>
            <p:cNvSpPr/>
            <p:nvPr/>
          </p:nvSpPr>
          <p:spPr>
            <a:xfrm>
              <a:off x="7538719" y="2935323"/>
              <a:ext cx="3426822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629193F-56F7-5FB6-E9B4-715F2BFA1C13}"/>
              </a:ext>
            </a:extLst>
          </p:cNvPr>
          <p:cNvSpPr txBox="1"/>
          <p:nvPr/>
        </p:nvSpPr>
        <p:spPr>
          <a:xfrm>
            <a:off x="8602390" y="1647395"/>
            <a:ext cx="234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WE DELIVER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DB4929-F7D9-3055-59DB-4424689ECE1A}"/>
              </a:ext>
            </a:extLst>
          </p:cNvPr>
          <p:cNvSpPr txBox="1"/>
          <p:nvPr/>
        </p:nvSpPr>
        <p:spPr>
          <a:xfrm>
            <a:off x="974177" y="2434633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DISASTER RESPONDERS (NDMA, SDRF)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6A59A2C-8719-F5DD-7479-8C96F1590D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568"/>
          <a:stretch>
            <a:fillRect/>
          </a:stretch>
        </p:blipFill>
        <p:spPr>
          <a:xfrm>
            <a:off x="359812" y="2449867"/>
            <a:ext cx="686410" cy="7190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7AF2175-63B9-A13E-4305-1AA2F23C3835}"/>
              </a:ext>
            </a:extLst>
          </p:cNvPr>
          <p:cNvSpPr txBox="1"/>
          <p:nvPr/>
        </p:nvSpPr>
        <p:spPr>
          <a:xfrm>
            <a:off x="980397" y="2656331"/>
            <a:ext cx="2527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All-weather awareness for faster response.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0E23B0-9256-79F3-7828-B6AAB7A041DF}"/>
              </a:ext>
            </a:extLst>
          </p:cNvPr>
          <p:cNvSpPr txBox="1"/>
          <p:nvPr/>
        </p:nvSpPr>
        <p:spPr>
          <a:xfrm>
            <a:off x="1001138" y="3230071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GOVERNMENT &amp; POLICY MAKERS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7BD59AC-F9FE-8CE8-B126-C742201088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55370" y="3248310"/>
            <a:ext cx="716250" cy="71625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B62919E-1A9F-A018-C823-4C76FE96D846}"/>
              </a:ext>
            </a:extLst>
          </p:cNvPr>
          <p:cNvSpPr txBox="1"/>
          <p:nvPr/>
        </p:nvSpPr>
        <p:spPr>
          <a:xfrm>
            <a:off x="1001231" y="3453420"/>
            <a:ext cx="29664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Better planning, infrastructure &amp; resource decisions.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9C4D4F-5C4B-0A97-7DA8-C22F8BDF1EC6}"/>
              </a:ext>
            </a:extLst>
          </p:cNvPr>
          <p:cNvSpPr txBox="1"/>
          <p:nvPr/>
        </p:nvSpPr>
        <p:spPr>
          <a:xfrm>
            <a:off x="1001605" y="4005211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DEFENCE &amp; STRATEGIC AGENCIES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2A17E19-BF03-3C8E-C982-A6B9A45FC51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92287" y="3995982"/>
            <a:ext cx="653934" cy="698725"/>
          </a:xfrm>
          <a:prstGeom prst="rect">
            <a:avLst/>
          </a:prstGeom>
        </p:spPr>
      </p:pic>
      <p:sp>
        <p:nvSpPr>
          <p:cNvPr id="17408" name="TextBox 17407">
            <a:extLst>
              <a:ext uri="{FF2B5EF4-FFF2-40B4-BE49-F238E27FC236}">
                <a16:creationId xmlns:a16="http://schemas.microsoft.com/office/drawing/2014/main" id="{9C1FB594-7EB2-3390-D50B-A5C850A369B6}"/>
              </a:ext>
            </a:extLst>
          </p:cNvPr>
          <p:cNvSpPr txBox="1"/>
          <p:nvPr/>
        </p:nvSpPr>
        <p:spPr>
          <a:xfrm>
            <a:off x="1007825" y="4226909"/>
            <a:ext cx="26319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Real-time monitoring of critical areas &amp; assets.</a:t>
            </a:r>
          </a:p>
          <a:p>
            <a:pPr lvl="0"/>
            <a:endParaRPr lang="en-IN" sz="1400" dirty="0"/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DD031F3B-6B36-82BE-AB10-706ABE0D4B1A}"/>
              </a:ext>
            </a:extLst>
          </p:cNvPr>
          <p:cNvSpPr txBox="1"/>
          <p:nvPr/>
        </p:nvSpPr>
        <p:spPr>
          <a:xfrm>
            <a:off x="1001138" y="4704333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FARMERS &amp; RURAL COMMUNITIES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7414" name="Picture 17413">
            <a:extLst>
              <a:ext uri="{FF2B5EF4-FFF2-40B4-BE49-F238E27FC236}">
                <a16:creationId xmlns:a16="http://schemas.microsoft.com/office/drawing/2014/main" id="{DB1E4BD6-C2A4-EA6B-2CB5-11CD65E9C76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511"/>
          <a:stretch>
            <a:fillRect/>
          </a:stretch>
        </p:blipFill>
        <p:spPr>
          <a:xfrm>
            <a:off x="420869" y="4746193"/>
            <a:ext cx="673206" cy="707353"/>
          </a:xfrm>
          <a:prstGeom prst="rect">
            <a:avLst/>
          </a:prstGeom>
        </p:spPr>
      </p:pic>
      <p:sp>
        <p:nvSpPr>
          <p:cNvPr id="17416" name="TextBox 17415">
            <a:extLst>
              <a:ext uri="{FF2B5EF4-FFF2-40B4-BE49-F238E27FC236}">
                <a16:creationId xmlns:a16="http://schemas.microsoft.com/office/drawing/2014/main" id="{CAB5FAFE-2C68-9C5F-0C2F-52318594FBF6}"/>
              </a:ext>
            </a:extLst>
          </p:cNvPr>
          <p:cNvSpPr txBox="1"/>
          <p:nvPr/>
        </p:nvSpPr>
        <p:spPr>
          <a:xfrm>
            <a:off x="1007358" y="4926031"/>
            <a:ext cx="3011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Early warnings for crops, water &amp; land health.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45D002FE-66DF-91CC-54E6-06A64FA1C400}"/>
              </a:ext>
            </a:extLst>
          </p:cNvPr>
          <p:cNvSpPr txBox="1"/>
          <p:nvPr/>
        </p:nvSpPr>
        <p:spPr>
          <a:xfrm>
            <a:off x="1007825" y="5452941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RESEARCHERS &amp; STUDENTS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D4C5C609-8213-86CF-5F3E-955DEBC472D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92287" y="5490312"/>
            <a:ext cx="681499" cy="610104"/>
          </a:xfrm>
          <a:prstGeom prst="rect">
            <a:avLst/>
          </a:prstGeom>
        </p:spPr>
      </p:pic>
      <p:sp>
        <p:nvSpPr>
          <p:cNvPr id="17422" name="TextBox 17421">
            <a:extLst>
              <a:ext uri="{FF2B5EF4-FFF2-40B4-BE49-F238E27FC236}">
                <a16:creationId xmlns:a16="http://schemas.microsoft.com/office/drawing/2014/main" id="{42E28D32-92E7-053E-A08E-D50BDD95E64A}"/>
              </a:ext>
            </a:extLst>
          </p:cNvPr>
          <p:cNvSpPr txBox="1"/>
          <p:nvPr/>
        </p:nvSpPr>
        <p:spPr>
          <a:xfrm>
            <a:off x="1014045" y="5674639"/>
            <a:ext cx="3233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Open insights and datasets for research &amp; innovation.</a:t>
            </a:r>
          </a:p>
        </p:txBody>
      </p:sp>
      <p:sp>
        <p:nvSpPr>
          <p:cNvPr id="17492" name="Rectangle: Rounded Corners 17491">
            <a:extLst>
              <a:ext uri="{FF2B5EF4-FFF2-40B4-BE49-F238E27FC236}">
                <a16:creationId xmlns:a16="http://schemas.microsoft.com/office/drawing/2014/main" id="{320315F8-E193-3D5B-55B4-F477CBB5C4FA}"/>
              </a:ext>
            </a:extLst>
          </p:cNvPr>
          <p:cNvSpPr/>
          <p:nvPr/>
        </p:nvSpPr>
        <p:spPr>
          <a:xfrm>
            <a:off x="7837224" y="2246365"/>
            <a:ext cx="3911553" cy="4041526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94" name="TextBox 17493">
            <a:extLst>
              <a:ext uri="{FF2B5EF4-FFF2-40B4-BE49-F238E27FC236}">
                <a16:creationId xmlns:a16="http://schemas.microsoft.com/office/drawing/2014/main" id="{4B5BA886-C7B1-F3F3-6CC3-2E2F3B4E772C}"/>
              </a:ext>
            </a:extLst>
          </p:cNvPr>
          <p:cNvSpPr txBox="1"/>
          <p:nvPr/>
        </p:nvSpPr>
        <p:spPr>
          <a:xfrm>
            <a:off x="8833952" y="2487618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EARLIER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7496" name="Picture 17495">
            <a:extLst>
              <a:ext uri="{FF2B5EF4-FFF2-40B4-BE49-F238E27FC236}">
                <a16:creationId xmlns:a16="http://schemas.microsoft.com/office/drawing/2014/main" id="{15866A8E-FD16-089C-C999-0A765628DE3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614" t="11430" r="5231" b="-1"/>
          <a:stretch>
            <a:fillRect/>
          </a:stretch>
        </p:blipFill>
        <p:spPr>
          <a:xfrm>
            <a:off x="8277215" y="2521308"/>
            <a:ext cx="630903" cy="590307"/>
          </a:xfrm>
          <a:prstGeom prst="rect">
            <a:avLst/>
          </a:prstGeom>
        </p:spPr>
      </p:pic>
      <p:sp>
        <p:nvSpPr>
          <p:cNvPr id="17498" name="TextBox 17497">
            <a:extLst>
              <a:ext uri="{FF2B5EF4-FFF2-40B4-BE49-F238E27FC236}">
                <a16:creationId xmlns:a16="http://schemas.microsoft.com/office/drawing/2014/main" id="{A520CF5A-3470-01D9-191A-5786C4BB579B}"/>
              </a:ext>
            </a:extLst>
          </p:cNvPr>
          <p:cNvSpPr txBox="1"/>
          <p:nvPr/>
        </p:nvSpPr>
        <p:spPr>
          <a:xfrm>
            <a:off x="8840303" y="2725822"/>
            <a:ext cx="3572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Risks identified before escalation</a:t>
            </a:r>
          </a:p>
        </p:txBody>
      </p:sp>
      <p:sp>
        <p:nvSpPr>
          <p:cNvPr id="17500" name="TextBox 17499">
            <a:extLst>
              <a:ext uri="{FF2B5EF4-FFF2-40B4-BE49-F238E27FC236}">
                <a16:creationId xmlns:a16="http://schemas.microsoft.com/office/drawing/2014/main" id="{7AA027A8-B494-9D57-B97C-C98A4EBBC027}"/>
              </a:ext>
            </a:extLst>
          </p:cNvPr>
          <p:cNvSpPr txBox="1"/>
          <p:nvPr/>
        </p:nvSpPr>
        <p:spPr>
          <a:xfrm>
            <a:off x="8848969" y="3221815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SMARTER</a:t>
            </a:r>
            <a:endParaRPr lang="en-IN" sz="1600" dirty="0">
              <a:solidFill>
                <a:schemeClr val="tx2"/>
              </a:solidFill>
            </a:endParaRPr>
          </a:p>
        </p:txBody>
      </p:sp>
      <p:pic>
        <p:nvPicPr>
          <p:cNvPr id="17502" name="Picture 17501">
            <a:extLst>
              <a:ext uri="{FF2B5EF4-FFF2-40B4-BE49-F238E27FC236}">
                <a16:creationId xmlns:a16="http://schemas.microsoft.com/office/drawing/2014/main" id="{71C4F267-789F-728F-4510-2D0D2B4E34C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03201" y="3240371"/>
            <a:ext cx="716250" cy="691551"/>
          </a:xfrm>
          <a:prstGeom prst="rect">
            <a:avLst/>
          </a:prstGeom>
        </p:spPr>
      </p:pic>
      <p:sp>
        <p:nvSpPr>
          <p:cNvPr id="17504" name="TextBox 17503">
            <a:extLst>
              <a:ext uri="{FF2B5EF4-FFF2-40B4-BE49-F238E27FC236}">
                <a16:creationId xmlns:a16="http://schemas.microsoft.com/office/drawing/2014/main" id="{8A5AF221-E60A-DD80-72C2-385B7BB84F41}"/>
              </a:ext>
            </a:extLst>
          </p:cNvPr>
          <p:cNvSpPr txBox="1"/>
          <p:nvPr/>
        </p:nvSpPr>
        <p:spPr>
          <a:xfrm>
            <a:off x="8849062" y="3445164"/>
            <a:ext cx="2198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Physics + causal reasoning: Fewer false alarms</a:t>
            </a:r>
          </a:p>
        </p:txBody>
      </p:sp>
      <p:sp>
        <p:nvSpPr>
          <p:cNvPr id="17506" name="TextBox 17505">
            <a:extLst>
              <a:ext uri="{FF2B5EF4-FFF2-40B4-BE49-F238E27FC236}">
                <a16:creationId xmlns:a16="http://schemas.microsoft.com/office/drawing/2014/main" id="{F352EEE7-FB34-4EF4-A72D-9ABEEE355C44}"/>
              </a:ext>
            </a:extLst>
          </p:cNvPr>
          <p:cNvSpPr txBox="1"/>
          <p:nvPr/>
        </p:nvSpPr>
        <p:spPr>
          <a:xfrm>
            <a:off x="8832497" y="4009654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LOWER LOSS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7508" name="Picture 17507">
            <a:extLst>
              <a:ext uri="{FF2B5EF4-FFF2-40B4-BE49-F238E27FC236}">
                <a16:creationId xmlns:a16="http://schemas.microsoft.com/office/drawing/2014/main" id="{A27AA4FA-C0E9-4F7D-A9F0-EF54E040E7E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23179" y="4046457"/>
            <a:ext cx="653934" cy="606661"/>
          </a:xfrm>
          <a:prstGeom prst="rect">
            <a:avLst/>
          </a:prstGeom>
        </p:spPr>
      </p:pic>
      <p:sp>
        <p:nvSpPr>
          <p:cNvPr id="17510" name="TextBox 17509">
            <a:extLst>
              <a:ext uri="{FF2B5EF4-FFF2-40B4-BE49-F238E27FC236}">
                <a16:creationId xmlns:a16="http://schemas.microsoft.com/office/drawing/2014/main" id="{B84806B6-498F-C6A2-FC78-9D6A939B4645}"/>
              </a:ext>
            </a:extLst>
          </p:cNvPr>
          <p:cNvSpPr txBox="1"/>
          <p:nvPr/>
        </p:nvSpPr>
        <p:spPr>
          <a:xfrm>
            <a:off x="8838717" y="4231352"/>
            <a:ext cx="2263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Protect infrastructure, crops &amp; resources</a:t>
            </a:r>
          </a:p>
        </p:txBody>
      </p:sp>
      <p:sp>
        <p:nvSpPr>
          <p:cNvPr id="17512" name="TextBox 17511">
            <a:extLst>
              <a:ext uri="{FF2B5EF4-FFF2-40B4-BE49-F238E27FC236}">
                <a16:creationId xmlns:a16="http://schemas.microsoft.com/office/drawing/2014/main" id="{7838ED2F-0FB7-051C-CB86-F267773E7846}"/>
              </a:ext>
            </a:extLst>
          </p:cNvPr>
          <p:cNvSpPr txBox="1"/>
          <p:nvPr/>
        </p:nvSpPr>
        <p:spPr>
          <a:xfrm>
            <a:off x="8849062" y="4765033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SAFER</a:t>
            </a:r>
            <a:endParaRPr lang="en-IN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7514" name="Picture 17513">
            <a:extLst>
              <a:ext uri="{FF2B5EF4-FFF2-40B4-BE49-F238E27FC236}">
                <a16:creationId xmlns:a16="http://schemas.microsoft.com/office/drawing/2014/main" id="{73687A26-DC25-9554-F0EA-417CE5F573C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987" b="1987"/>
          <a:stretch/>
        </p:blipFill>
        <p:spPr>
          <a:xfrm>
            <a:off x="8281393" y="4770812"/>
            <a:ext cx="625352" cy="657072"/>
          </a:xfrm>
          <a:prstGeom prst="rect">
            <a:avLst/>
          </a:prstGeom>
        </p:spPr>
      </p:pic>
      <p:sp>
        <p:nvSpPr>
          <p:cNvPr id="17516" name="TextBox 17515">
            <a:extLst>
              <a:ext uri="{FF2B5EF4-FFF2-40B4-BE49-F238E27FC236}">
                <a16:creationId xmlns:a16="http://schemas.microsoft.com/office/drawing/2014/main" id="{53D1CDB3-27CF-43FF-0618-9E046C34F30C}"/>
              </a:ext>
            </a:extLst>
          </p:cNvPr>
          <p:cNvSpPr txBox="1"/>
          <p:nvPr/>
        </p:nvSpPr>
        <p:spPr>
          <a:xfrm>
            <a:off x="8842483" y="4998206"/>
            <a:ext cx="3422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Better preparedness and response</a:t>
            </a:r>
          </a:p>
        </p:txBody>
      </p:sp>
      <p:sp>
        <p:nvSpPr>
          <p:cNvPr id="17518" name="TextBox 17517">
            <a:extLst>
              <a:ext uri="{FF2B5EF4-FFF2-40B4-BE49-F238E27FC236}">
                <a16:creationId xmlns:a16="http://schemas.microsoft.com/office/drawing/2014/main" id="{2182FFA1-0058-B395-45CA-87BC6AAFCC6B}"/>
              </a:ext>
            </a:extLst>
          </p:cNvPr>
          <p:cNvSpPr txBox="1"/>
          <p:nvPr/>
        </p:nvSpPr>
        <p:spPr>
          <a:xfrm>
            <a:off x="8849062" y="5457276"/>
            <a:ext cx="3779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SCALABLE</a:t>
            </a:r>
            <a:endParaRPr lang="en-IN" sz="1600" dirty="0">
              <a:solidFill>
                <a:srgbClr val="7030A0"/>
              </a:solidFill>
            </a:endParaRPr>
          </a:p>
        </p:txBody>
      </p:sp>
      <p:pic>
        <p:nvPicPr>
          <p:cNvPr id="17520" name="Picture 17519">
            <a:extLst>
              <a:ext uri="{FF2B5EF4-FFF2-40B4-BE49-F238E27FC236}">
                <a16:creationId xmlns:a16="http://schemas.microsoft.com/office/drawing/2014/main" id="{3F549E23-081F-AEAF-B013-FE0EBCD9C23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981" t="4712" b="18421"/>
          <a:stretch>
            <a:fillRect/>
          </a:stretch>
        </p:blipFill>
        <p:spPr>
          <a:xfrm>
            <a:off x="8326467" y="5457384"/>
            <a:ext cx="560991" cy="517763"/>
          </a:xfrm>
          <a:prstGeom prst="rect">
            <a:avLst/>
          </a:prstGeom>
        </p:spPr>
      </p:pic>
      <p:sp>
        <p:nvSpPr>
          <p:cNvPr id="17522" name="TextBox 17521">
            <a:extLst>
              <a:ext uri="{FF2B5EF4-FFF2-40B4-BE49-F238E27FC236}">
                <a16:creationId xmlns:a16="http://schemas.microsoft.com/office/drawing/2014/main" id="{C602BB63-0925-725C-37E9-DC08A0FC0A54}"/>
              </a:ext>
            </a:extLst>
          </p:cNvPr>
          <p:cNvSpPr txBox="1"/>
          <p:nvPr/>
        </p:nvSpPr>
        <p:spPr>
          <a:xfrm>
            <a:off x="8855283" y="5678974"/>
            <a:ext cx="2656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From local hazards to national monitoring</a:t>
            </a:r>
          </a:p>
        </p:txBody>
      </p:sp>
      <p:sp>
        <p:nvSpPr>
          <p:cNvPr id="17537" name="TextBox 17536">
            <a:extLst>
              <a:ext uri="{FF2B5EF4-FFF2-40B4-BE49-F238E27FC236}">
                <a16:creationId xmlns:a16="http://schemas.microsoft.com/office/drawing/2014/main" id="{26C7213E-7F72-CE70-1030-411A2DB42157}"/>
              </a:ext>
            </a:extLst>
          </p:cNvPr>
          <p:cNvSpPr txBox="1"/>
          <p:nvPr/>
        </p:nvSpPr>
        <p:spPr>
          <a:xfrm>
            <a:off x="4675007" y="4777937"/>
            <a:ext cx="2849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From Space Data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To Secure Decisions</a:t>
            </a:r>
            <a:endParaRPr lang="en-IN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 Titans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144122E-400B-0133-0CF9-7F5F95A44739}"/>
              </a:ext>
            </a:extLst>
          </p:cNvPr>
          <p:cNvGrpSpPr/>
          <p:nvPr/>
        </p:nvGrpSpPr>
        <p:grpSpPr>
          <a:xfrm>
            <a:off x="774547" y="1559868"/>
            <a:ext cx="2780938" cy="610739"/>
            <a:chOff x="7471872" y="2935324"/>
            <a:chExt cx="3493670" cy="751520"/>
          </a:xfrm>
        </p:grpSpPr>
        <p:sp>
          <p:nvSpPr>
            <p:cNvPr id="3" name="Rounded Rectangle 1">
              <a:extLst>
                <a:ext uri="{FF2B5EF4-FFF2-40B4-BE49-F238E27FC236}">
                  <a16:creationId xmlns:a16="http://schemas.microsoft.com/office/drawing/2014/main" id="{CF9C7500-B40E-53EF-967C-5BC499531FD4}"/>
                </a:ext>
              </a:extLst>
            </p:cNvPr>
            <p:cNvSpPr/>
            <p:nvPr/>
          </p:nvSpPr>
          <p:spPr>
            <a:xfrm>
              <a:off x="7471872" y="3023077"/>
              <a:ext cx="3426823" cy="66376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" name="Rounded Rectangle 2">
              <a:extLst>
                <a:ext uri="{FF2B5EF4-FFF2-40B4-BE49-F238E27FC236}">
                  <a16:creationId xmlns:a16="http://schemas.microsoft.com/office/drawing/2014/main" id="{4F4A8885-C9E9-94AF-3DC9-6D16C01CB8CE}"/>
                </a:ext>
              </a:extLst>
            </p:cNvPr>
            <p:cNvSpPr/>
            <p:nvPr/>
          </p:nvSpPr>
          <p:spPr>
            <a:xfrm>
              <a:off x="7538719" y="2935324"/>
              <a:ext cx="3426823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7F45473-F375-1DCF-0D34-BD02A5905C14}"/>
              </a:ext>
            </a:extLst>
          </p:cNvPr>
          <p:cNvSpPr txBox="1"/>
          <p:nvPr/>
        </p:nvSpPr>
        <p:spPr>
          <a:xfrm>
            <a:off x="817405" y="1644914"/>
            <a:ext cx="288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&amp; DATASETS</a:t>
            </a:r>
            <a:endParaRPr lang="en-IN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18C1A7-28C1-83DF-3DE9-C36DC90BC86B}"/>
              </a:ext>
            </a:extLst>
          </p:cNvPr>
          <p:cNvGrpSpPr/>
          <p:nvPr/>
        </p:nvGrpSpPr>
        <p:grpSpPr>
          <a:xfrm>
            <a:off x="8385718" y="1559636"/>
            <a:ext cx="2813750" cy="610971"/>
            <a:chOff x="7538719" y="2935323"/>
            <a:chExt cx="3500561" cy="747308"/>
          </a:xfrm>
        </p:grpSpPr>
        <p:sp>
          <p:nvSpPr>
            <p:cNvPr id="16" name="Rounded Rectangle 1">
              <a:extLst>
                <a:ext uri="{FF2B5EF4-FFF2-40B4-BE49-F238E27FC236}">
                  <a16:creationId xmlns:a16="http://schemas.microsoft.com/office/drawing/2014/main" id="{56031E9D-43F9-D8CC-050A-6C417EAB8823}"/>
                </a:ext>
              </a:extLst>
            </p:cNvPr>
            <p:cNvSpPr/>
            <p:nvPr/>
          </p:nvSpPr>
          <p:spPr>
            <a:xfrm>
              <a:off x="7612458" y="3018863"/>
              <a:ext cx="3426822" cy="6637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Rounded Rectangle 2">
              <a:extLst>
                <a:ext uri="{FF2B5EF4-FFF2-40B4-BE49-F238E27FC236}">
                  <a16:creationId xmlns:a16="http://schemas.microsoft.com/office/drawing/2014/main" id="{01CE2AB1-4779-133A-1A7B-3CA8A18279F0}"/>
                </a:ext>
              </a:extLst>
            </p:cNvPr>
            <p:cNvSpPr/>
            <p:nvPr/>
          </p:nvSpPr>
          <p:spPr>
            <a:xfrm>
              <a:off x="7538719" y="2935323"/>
              <a:ext cx="3426822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486F8EC-A434-04DD-0B5D-189F2E73ECFE}"/>
              </a:ext>
            </a:extLst>
          </p:cNvPr>
          <p:cNvSpPr txBox="1"/>
          <p:nvPr/>
        </p:nvSpPr>
        <p:spPr>
          <a:xfrm>
            <a:off x="8373790" y="1647395"/>
            <a:ext cx="275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METHODS</a:t>
            </a:r>
            <a:endParaRPr lang="en-IN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0130F1-8092-23C1-7671-05F8B0A9D260}"/>
              </a:ext>
            </a:extLst>
          </p:cNvPr>
          <p:cNvGrpSpPr/>
          <p:nvPr/>
        </p:nvGrpSpPr>
        <p:grpSpPr>
          <a:xfrm>
            <a:off x="4600781" y="1555905"/>
            <a:ext cx="2728665" cy="616754"/>
            <a:chOff x="7538719" y="2935324"/>
            <a:chExt cx="3427998" cy="758922"/>
          </a:xfrm>
        </p:grpSpPr>
        <p:sp>
          <p:nvSpPr>
            <p:cNvPr id="20" name="Rounded Rectangle 1">
              <a:extLst>
                <a:ext uri="{FF2B5EF4-FFF2-40B4-BE49-F238E27FC236}">
                  <a16:creationId xmlns:a16="http://schemas.microsoft.com/office/drawing/2014/main" id="{786D8C8A-9DDD-D425-D0BB-7F9F3EE3522E}"/>
                </a:ext>
              </a:extLst>
            </p:cNvPr>
            <p:cNvSpPr/>
            <p:nvPr/>
          </p:nvSpPr>
          <p:spPr>
            <a:xfrm>
              <a:off x="7539894" y="3030479"/>
              <a:ext cx="3426823" cy="66376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Rounded Rectangle 2">
              <a:extLst>
                <a:ext uri="{FF2B5EF4-FFF2-40B4-BE49-F238E27FC236}">
                  <a16:creationId xmlns:a16="http://schemas.microsoft.com/office/drawing/2014/main" id="{CBB4BD1F-F02D-E4EE-83AE-38A241EC5D06}"/>
                </a:ext>
              </a:extLst>
            </p:cNvPr>
            <p:cNvSpPr/>
            <p:nvPr/>
          </p:nvSpPr>
          <p:spPr>
            <a:xfrm>
              <a:off x="7538719" y="2935324"/>
              <a:ext cx="3426823" cy="6637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B4B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84048" tIns="201168" rIns="164592" bIns="91440" rtlCol="0" anchor="ctr"/>
            <a:lstStyle/>
            <a:p>
              <a:pPr algn="ctr">
                <a:spcAft>
                  <a:spcPts val="0"/>
                </a:spcAft>
                <a:defRPr sz="2200" b="0">
                  <a:solidFill>
                    <a:srgbClr val="2D2D2D"/>
                  </a:solidFill>
                  <a:latin typeface="Arial"/>
                </a:defRPr>
              </a:pPr>
              <a:endParaRPr lang="en-IN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4EB4DED-56D9-72A9-8FE3-34B948BC2FE2}"/>
              </a:ext>
            </a:extLst>
          </p:cNvPr>
          <p:cNvSpPr txBox="1"/>
          <p:nvPr/>
        </p:nvSpPr>
        <p:spPr>
          <a:xfrm>
            <a:off x="4644572" y="1640953"/>
            <a:ext cx="268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EARTH OBSERVATION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95E296-0642-7ED0-071D-04B13C1B72CB}"/>
              </a:ext>
            </a:extLst>
          </p:cNvPr>
          <p:cNvSpPr/>
          <p:nvPr/>
        </p:nvSpPr>
        <p:spPr>
          <a:xfrm>
            <a:off x="517360" y="2271356"/>
            <a:ext cx="3512047" cy="2794194"/>
          </a:xfrm>
          <a:prstGeom prst="roundRect">
            <a:avLst>
              <a:gd name="adj" fmla="val 3841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B99D378-DEBC-E8B6-8876-54FB39A63465}"/>
              </a:ext>
            </a:extLst>
          </p:cNvPr>
          <p:cNvSpPr/>
          <p:nvPr/>
        </p:nvSpPr>
        <p:spPr>
          <a:xfrm>
            <a:off x="8006825" y="2288530"/>
            <a:ext cx="3512047" cy="2794194"/>
          </a:xfrm>
          <a:prstGeom prst="roundRect">
            <a:avLst>
              <a:gd name="adj" fmla="val 3841"/>
            </a:avLst>
          </a:prstGeom>
          <a:noFill/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35CFEA-A0D0-D60D-9F23-1EC0E081DE9B}"/>
              </a:ext>
            </a:extLst>
          </p:cNvPr>
          <p:cNvSpPr txBox="1"/>
          <p:nvPr/>
        </p:nvSpPr>
        <p:spPr>
          <a:xfrm>
            <a:off x="1215199" y="2359230"/>
            <a:ext cx="2970622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/>
                </a:solidFill>
              </a:rPr>
              <a:t>SIH 2026 – PS 26167 (ISRO SAC)</a:t>
            </a:r>
          </a:p>
          <a:p>
            <a:r>
              <a:rPr lang="en-IN" sz="100" dirty="0">
                <a:solidFill>
                  <a:schemeClr val="tx2"/>
                </a:solidFill>
              </a:rPr>
              <a:t> </a:t>
            </a:r>
          </a:p>
          <a:p>
            <a:r>
              <a:rPr lang="en-IN" sz="1200" b="1" dirty="0" err="1"/>
              <a:t>SatQuery</a:t>
            </a:r>
            <a:r>
              <a:rPr lang="en-IN" sz="1200" b="1" dirty="0"/>
              <a:t> AI</a:t>
            </a:r>
          </a:p>
          <a:p>
            <a:r>
              <a:rPr lang="en-IN" sz="1050" i="1" dirty="0"/>
              <a:t>Source: SIH 2026 Problem Statement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6F04205-2E5C-B682-981F-E7953AF8A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24" y="2356403"/>
            <a:ext cx="620278" cy="64263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2283024-02C5-42FD-04CD-B819E48B2B2E}"/>
              </a:ext>
            </a:extLst>
          </p:cNvPr>
          <p:cNvSpPr txBox="1"/>
          <p:nvPr/>
        </p:nvSpPr>
        <p:spPr>
          <a:xfrm>
            <a:off x="1215199" y="3126953"/>
            <a:ext cx="2604827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/>
                </a:solidFill>
              </a:rPr>
              <a:t>BigEarthNet.txt – 2026</a:t>
            </a:r>
            <a:r>
              <a:rPr lang="en-IN" sz="1600" dirty="0">
                <a:solidFill>
                  <a:schemeClr val="tx2"/>
                </a:solidFill>
              </a:rPr>
              <a:t> </a:t>
            </a:r>
            <a:r>
              <a:rPr lang="en-IN" sz="100" dirty="0">
                <a:solidFill>
                  <a:schemeClr val="tx2"/>
                </a:solidFill>
              </a:rPr>
              <a:t> </a:t>
            </a:r>
          </a:p>
          <a:p>
            <a:r>
              <a:rPr lang="en-IN" sz="1200" dirty="0"/>
              <a:t>Large‑scale multi‑sensor image‑text dataset for Earth observation. </a:t>
            </a:r>
          </a:p>
          <a:p>
            <a:r>
              <a:rPr lang="en-IN" sz="1050" i="1" dirty="0"/>
              <a:t>Source:</a:t>
            </a:r>
            <a:r>
              <a:rPr lang="en-IN" sz="1050" dirty="0"/>
              <a:t> </a:t>
            </a:r>
            <a:r>
              <a:rPr lang="en-IN" sz="1050" i="1" dirty="0">
                <a:hlinkClick r:id="rId5" tooltip="txt.bigearth.net"/>
              </a:rPr>
              <a:t>https://txt.bigearth.net</a:t>
            </a:r>
            <a:endParaRPr lang="en-IN" sz="1050" i="1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BB8B8D7-CEC8-E1C4-241E-10435AB22A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6740" y="3233107"/>
            <a:ext cx="620278" cy="60514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B9027EB-8015-BD0B-3BED-C2AD9B256EC0}"/>
              </a:ext>
            </a:extLst>
          </p:cNvPr>
          <p:cNvSpPr txBox="1"/>
          <p:nvPr/>
        </p:nvSpPr>
        <p:spPr>
          <a:xfrm>
            <a:off x="1223216" y="4049374"/>
            <a:ext cx="2604827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 err="1">
                <a:solidFill>
                  <a:schemeClr val="tx2"/>
                </a:solidFill>
              </a:rPr>
              <a:t>BigEarthNet</a:t>
            </a:r>
            <a:r>
              <a:rPr lang="en-IN" sz="1600" b="1" dirty="0">
                <a:solidFill>
                  <a:schemeClr val="tx2"/>
                </a:solidFill>
              </a:rPr>
              <a:t> v2.0 / </a:t>
            </a:r>
            <a:r>
              <a:rPr lang="en-IN" sz="1600" b="1" dirty="0" err="1">
                <a:solidFill>
                  <a:schemeClr val="tx2"/>
                </a:solidFill>
              </a:rPr>
              <a:t>reBEN</a:t>
            </a:r>
            <a:r>
              <a:rPr lang="en-IN" sz="1600" dirty="0">
                <a:solidFill>
                  <a:schemeClr val="tx2"/>
                </a:solidFill>
              </a:rPr>
              <a:t> </a:t>
            </a:r>
            <a:r>
              <a:rPr lang="en-IN" sz="1200" dirty="0"/>
              <a:t>Refined Sentinel‑1 + Sentinel‑2 dataset for remote sensing benchmarking.</a:t>
            </a:r>
          </a:p>
          <a:p>
            <a:r>
              <a:rPr lang="en-IN" sz="1050" i="1" dirty="0"/>
              <a:t>Source</a:t>
            </a:r>
            <a:r>
              <a:rPr lang="en-IN" sz="1050" dirty="0"/>
              <a:t>: </a:t>
            </a:r>
            <a:r>
              <a:rPr lang="en-IN" sz="1050" i="1" dirty="0">
                <a:hlinkClick r:id="rId7" tooltip="bigearth.net"/>
              </a:rPr>
              <a:t>https://bigearth.net</a:t>
            </a:r>
            <a:endParaRPr lang="en-IN" sz="1050" i="1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8B538A1-22EA-2248-B0D9-C2A28EB1E09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4757" y="4223475"/>
            <a:ext cx="620278" cy="469253"/>
          </a:xfrm>
          <a:prstGeom prst="rect">
            <a:avLst/>
          </a:prstGeom>
        </p:spPr>
      </p:pic>
      <p:sp>
        <p:nvSpPr>
          <p:cNvPr id="17413" name="Rectangle: Rounded Corners 17412">
            <a:extLst>
              <a:ext uri="{FF2B5EF4-FFF2-40B4-BE49-F238E27FC236}">
                <a16:creationId xmlns:a16="http://schemas.microsoft.com/office/drawing/2014/main" id="{895ACC62-6872-5B0A-DCE6-1356F57496E6}"/>
              </a:ext>
            </a:extLst>
          </p:cNvPr>
          <p:cNvSpPr/>
          <p:nvPr/>
        </p:nvSpPr>
        <p:spPr>
          <a:xfrm>
            <a:off x="4262090" y="2277049"/>
            <a:ext cx="3512047" cy="2794194"/>
          </a:xfrm>
          <a:prstGeom prst="roundRect">
            <a:avLst>
              <a:gd name="adj" fmla="val 3841"/>
            </a:avLst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44C0F249-286A-84F0-916E-2C6578190D3C}"/>
              </a:ext>
            </a:extLst>
          </p:cNvPr>
          <p:cNvSpPr txBox="1"/>
          <p:nvPr/>
        </p:nvSpPr>
        <p:spPr>
          <a:xfrm>
            <a:off x="4959929" y="2443130"/>
            <a:ext cx="2970622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ISRO – Earth Observation Satellites</a:t>
            </a:r>
            <a:r>
              <a:rPr lang="en-IN" sz="14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IN" sz="1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r>
              <a:rPr lang="en-IN" sz="1050" i="1" dirty="0"/>
              <a:t>Source</a:t>
            </a:r>
            <a:r>
              <a:rPr lang="en-IN" sz="1050" dirty="0"/>
              <a:t>: </a:t>
            </a:r>
            <a:r>
              <a:rPr lang="en-IN" sz="1050" i="1" dirty="0">
                <a:hlinkClick r:id="rId9" tooltip="www.isro.gov.in"/>
              </a:rPr>
              <a:t>https://www.isro.gov.in</a:t>
            </a:r>
            <a:endParaRPr lang="en-IN" sz="1050" i="1" dirty="0"/>
          </a:p>
        </p:txBody>
      </p:sp>
      <p:pic>
        <p:nvPicPr>
          <p:cNvPr id="17417" name="Picture 17416">
            <a:extLst>
              <a:ext uri="{FF2B5EF4-FFF2-40B4-BE49-F238E27FC236}">
                <a16:creationId xmlns:a16="http://schemas.microsoft.com/office/drawing/2014/main" id="{10D8471A-387A-DB1D-7503-89CCE7C306B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75454" y="2416137"/>
            <a:ext cx="620278" cy="534548"/>
          </a:xfrm>
          <a:prstGeom prst="rect">
            <a:avLst/>
          </a:prstGeom>
        </p:spPr>
      </p:pic>
      <p:sp>
        <p:nvSpPr>
          <p:cNvPr id="17419" name="TextBox 17418">
            <a:extLst>
              <a:ext uri="{FF2B5EF4-FFF2-40B4-BE49-F238E27FC236}">
                <a16:creationId xmlns:a16="http://schemas.microsoft.com/office/drawing/2014/main" id="{9CE2CDE1-8FFE-99BE-0C17-AC224F2677E3}"/>
              </a:ext>
            </a:extLst>
          </p:cNvPr>
          <p:cNvSpPr txBox="1"/>
          <p:nvPr/>
        </p:nvSpPr>
        <p:spPr>
          <a:xfrm>
            <a:off x="4967946" y="3252963"/>
            <a:ext cx="260482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ISRO – NISAR Mission</a:t>
            </a:r>
            <a:r>
              <a:rPr lang="en-IN" sz="14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r>
              <a:rPr lang="en-IN" sz="1050" i="1" dirty="0"/>
              <a:t>Source:</a:t>
            </a:r>
            <a:r>
              <a:rPr lang="en-IN" sz="1050" dirty="0"/>
              <a:t> </a:t>
            </a:r>
            <a:r>
              <a:rPr lang="en-IN" sz="1050" i="1" dirty="0">
                <a:hlinkClick r:id="rId11"/>
              </a:rPr>
              <a:t>https://www.isro.gov.in/NISARSatellite.html</a:t>
            </a:r>
            <a:endParaRPr lang="en-IN" sz="1050" i="1" dirty="0"/>
          </a:p>
        </p:txBody>
      </p:sp>
      <p:pic>
        <p:nvPicPr>
          <p:cNvPr id="17421" name="Picture 17420">
            <a:extLst>
              <a:ext uri="{FF2B5EF4-FFF2-40B4-BE49-F238E27FC236}">
                <a16:creationId xmlns:a16="http://schemas.microsoft.com/office/drawing/2014/main" id="{AF494998-08DA-158B-79B9-46CF4F9FD4D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389487" y="3369324"/>
            <a:ext cx="620278" cy="452383"/>
          </a:xfrm>
          <a:prstGeom prst="rect">
            <a:avLst/>
          </a:prstGeom>
        </p:spPr>
      </p:pic>
      <p:sp>
        <p:nvSpPr>
          <p:cNvPr id="17423" name="TextBox 17422">
            <a:extLst>
              <a:ext uri="{FF2B5EF4-FFF2-40B4-BE49-F238E27FC236}">
                <a16:creationId xmlns:a16="http://schemas.microsoft.com/office/drawing/2014/main" id="{B2D6DD17-D406-E183-3DDC-7F2F7FD40D2D}"/>
              </a:ext>
            </a:extLst>
          </p:cNvPr>
          <p:cNvSpPr txBox="1"/>
          <p:nvPr/>
        </p:nvSpPr>
        <p:spPr>
          <a:xfrm>
            <a:off x="4967946" y="4141111"/>
            <a:ext cx="2837515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ESA – Copernicus Sentinel Missions</a:t>
            </a:r>
            <a:r>
              <a:rPr lang="en-IN" sz="14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r>
              <a:rPr lang="en-IN" sz="1050" i="1" dirty="0"/>
              <a:t>Source:</a:t>
            </a:r>
            <a:r>
              <a:rPr lang="en-IN" sz="1050" dirty="0"/>
              <a:t> </a:t>
            </a:r>
            <a:r>
              <a:rPr lang="en-IN" sz="1050" i="1" dirty="0">
                <a:hlinkClick r:id="rId13"/>
              </a:rPr>
              <a:t>https://www.esa.int/Applications/Observing_the_Earth/Copernicus/</a:t>
            </a:r>
            <a:endParaRPr lang="en-IN" sz="1050" i="1" dirty="0"/>
          </a:p>
        </p:txBody>
      </p:sp>
      <p:pic>
        <p:nvPicPr>
          <p:cNvPr id="17425" name="Picture 17424">
            <a:extLst>
              <a:ext uri="{FF2B5EF4-FFF2-40B4-BE49-F238E27FC236}">
                <a16:creationId xmlns:a16="http://schemas.microsoft.com/office/drawing/2014/main" id="{F331FE56-93D1-569D-6317-48271E0603F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389487" y="4373062"/>
            <a:ext cx="620278" cy="337874"/>
          </a:xfrm>
          <a:prstGeom prst="rect">
            <a:avLst/>
          </a:prstGeom>
        </p:spPr>
      </p:pic>
      <p:pic>
        <p:nvPicPr>
          <p:cNvPr id="17429" name="Picture 17428">
            <a:extLst>
              <a:ext uri="{FF2B5EF4-FFF2-40B4-BE49-F238E27FC236}">
                <a16:creationId xmlns:a16="http://schemas.microsoft.com/office/drawing/2014/main" id="{09E6F416-11AF-C871-6186-332A7D9846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0902" y="2356403"/>
            <a:ext cx="609631" cy="482625"/>
          </a:xfrm>
          <a:prstGeom prst="rect">
            <a:avLst/>
          </a:prstGeom>
        </p:spPr>
      </p:pic>
      <p:pic>
        <p:nvPicPr>
          <p:cNvPr id="17431" name="Picture 17430">
            <a:extLst>
              <a:ext uri="{FF2B5EF4-FFF2-40B4-BE49-F238E27FC236}">
                <a16:creationId xmlns:a16="http://schemas.microsoft.com/office/drawing/2014/main" id="{BBB06402-9EC0-F14B-B4F8-6138EE5E74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2969" y="2868429"/>
            <a:ext cx="615982" cy="552478"/>
          </a:xfrm>
          <a:prstGeom prst="rect">
            <a:avLst/>
          </a:prstGeom>
        </p:spPr>
      </p:pic>
      <p:pic>
        <p:nvPicPr>
          <p:cNvPr id="17433" name="Picture 17432">
            <a:extLst>
              <a:ext uri="{FF2B5EF4-FFF2-40B4-BE49-F238E27FC236}">
                <a16:creationId xmlns:a16="http://schemas.microsoft.com/office/drawing/2014/main" id="{F579D731-CF23-1BD7-689B-33AE32F777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3901" y="3427140"/>
            <a:ext cx="539778" cy="482625"/>
          </a:xfrm>
          <a:prstGeom prst="rect">
            <a:avLst/>
          </a:prstGeom>
        </p:spPr>
      </p:pic>
      <p:pic>
        <p:nvPicPr>
          <p:cNvPr id="17435" name="Picture 17434">
            <a:extLst>
              <a:ext uri="{FF2B5EF4-FFF2-40B4-BE49-F238E27FC236}">
                <a16:creationId xmlns:a16="http://schemas.microsoft.com/office/drawing/2014/main" id="{CD175163-8154-AA85-2958-578F1829C4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75826" y="3958659"/>
            <a:ext cx="647733" cy="520727"/>
          </a:xfrm>
          <a:prstGeom prst="rect">
            <a:avLst/>
          </a:prstGeom>
        </p:spPr>
      </p:pic>
      <p:pic>
        <p:nvPicPr>
          <p:cNvPr id="17437" name="Picture 17436">
            <a:extLst>
              <a:ext uri="{FF2B5EF4-FFF2-40B4-BE49-F238E27FC236}">
                <a16:creationId xmlns:a16="http://schemas.microsoft.com/office/drawing/2014/main" id="{B6556260-8ED1-943F-6D80-CDD63A6D715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39328" y="4426014"/>
            <a:ext cx="520727" cy="533427"/>
          </a:xfrm>
          <a:prstGeom prst="rect">
            <a:avLst/>
          </a:prstGeom>
        </p:spPr>
      </p:pic>
      <p:sp>
        <p:nvSpPr>
          <p:cNvPr id="17439" name="TextBox 17438">
            <a:extLst>
              <a:ext uri="{FF2B5EF4-FFF2-40B4-BE49-F238E27FC236}">
                <a16:creationId xmlns:a16="http://schemas.microsoft.com/office/drawing/2014/main" id="{5ECE4C8E-ED19-55C0-BC9D-E76C04AC880B}"/>
              </a:ext>
            </a:extLst>
          </p:cNvPr>
          <p:cNvSpPr txBox="1"/>
          <p:nvPr/>
        </p:nvSpPr>
        <p:spPr>
          <a:xfrm>
            <a:off x="8619992" y="2413049"/>
            <a:ext cx="1947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 err="1">
                <a:solidFill>
                  <a:schemeClr val="accent4"/>
                </a:solidFill>
              </a:rPr>
              <a:t>PolSAR</a:t>
            </a:r>
            <a:r>
              <a:rPr lang="en-IN" sz="1600" b="1" dirty="0">
                <a:solidFill>
                  <a:schemeClr val="accent4"/>
                </a:solidFill>
              </a:rPr>
              <a:t> / </a:t>
            </a:r>
            <a:r>
              <a:rPr lang="en-IN" sz="1600" b="1" dirty="0" err="1">
                <a:solidFill>
                  <a:schemeClr val="accent4"/>
                </a:solidFill>
              </a:rPr>
              <a:t>PolInSAR</a:t>
            </a:r>
            <a:r>
              <a:rPr lang="en-IN" sz="1600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1F60895D-FF2C-AB58-F335-A9F04A46F53E}"/>
              </a:ext>
            </a:extLst>
          </p:cNvPr>
          <p:cNvSpPr txBox="1"/>
          <p:nvPr/>
        </p:nvSpPr>
        <p:spPr>
          <a:xfrm>
            <a:off x="8624524" y="2961053"/>
            <a:ext cx="2970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MESMA &amp; Spectral Unmixing</a:t>
            </a:r>
            <a:r>
              <a:rPr lang="en-IN" sz="1600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7443" name="TextBox 17442">
            <a:extLst>
              <a:ext uri="{FF2B5EF4-FFF2-40B4-BE49-F238E27FC236}">
                <a16:creationId xmlns:a16="http://schemas.microsoft.com/office/drawing/2014/main" id="{9E149DB6-B5BA-2E41-5F44-EA0ABE91A299}"/>
              </a:ext>
            </a:extLst>
          </p:cNvPr>
          <p:cNvSpPr txBox="1"/>
          <p:nvPr/>
        </p:nvSpPr>
        <p:spPr>
          <a:xfrm>
            <a:off x="8640503" y="3482888"/>
            <a:ext cx="3231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Vision‑Language Models (VLMs)</a:t>
            </a:r>
            <a:r>
              <a:rPr lang="en-IN" sz="1600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C339433C-AD9C-81F0-59DA-2615E5864F8A}"/>
              </a:ext>
            </a:extLst>
          </p:cNvPr>
          <p:cNvSpPr txBox="1"/>
          <p:nvPr/>
        </p:nvSpPr>
        <p:spPr>
          <a:xfrm>
            <a:off x="8644847" y="3930043"/>
            <a:ext cx="30145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Causal AI – Structural Causal Models</a:t>
            </a:r>
            <a:r>
              <a:rPr lang="en-IN" sz="1600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E4895B3D-8CA9-94E2-1641-7A9BC1E4BFF4}"/>
              </a:ext>
            </a:extLst>
          </p:cNvPr>
          <p:cNvSpPr txBox="1"/>
          <p:nvPr/>
        </p:nvSpPr>
        <p:spPr>
          <a:xfrm>
            <a:off x="8644847" y="4531644"/>
            <a:ext cx="2738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4"/>
                </a:solidFill>
              </a:rPr>
              <a:t>Uncertainty Quantification</a:t>
            </a:r>
            <a:r>
              <a:rPr lang="en-IN" sz="1600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7449" name="Rectangle: Rounded Corners 17448">
            <a:extLst>
              <a:ext uri="{FF2B5EF4-FFF2-40B4-BE49-F238E27FC236}">
                <a16:creationId xmlns:a16="http://schemas.microsoft.com/office/drawing/2014/main" id="{AB87E106-2330-CA05-BA77-187F6A0AC897}"/>
              </a:ext>
            </a:extLst>
          </p:cNvPr>
          <p:cNvSpPr/>
          <p:nvPr/>
        </p:nvSpPr>
        <p:spPr>
          <a:xfrm>
            <a:off x="523521" y="5236871"/>
            <a:ext cx="7250616" cy="1025563"/>
          </a:xfrm>
          <a:prstGeom prst="roundRect">
            <a:avLst>
              <a:gd name="adj" fmla="val 3841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51" name="TextBox 17450">
            <a:extLst>
              <a:ext uri="{FF2B5EF4-FFF2-40B4-BE49-F238E27FC236}">
                <a16:creationId xmlns:a16="http://schemas.microsoft.com/office/drawing/2014/main" id="{D6F5F490-B95E-459E-BFA1-71D4E2966C69}"/>
              </a:ext>
            </a:extLst>
          </p:cNvPr>
          <p:cNvSpPr txBox="1"/>
          <p:nvPr/>
        </p:nvSpPr>
        <p:spPr>
          <a:xfrm>
            <a:off x="2905016" y="5238492"/>
            <a:ext cx="2487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Textbook References</a:t>
            </a:r>
          </a:p>
        </p:txBody>
      </p:sp>
      <p:sp>
        <p:nvSpPr>
          <p:cNvPr id="17453" name="TextBox 17452">
            <a:extLst>
              <a:ext uri="{FF2B5EF4-FFF2-40B4-BE49-F238E27FC236}">
                <a16:creationId xmlns:a16="http://schemas.microsoft.com/office/drawing/2014/main" id="{184EA7EC-6929-F08C-AB78-74DDA31063CF}"/>
              </a:ext>
            </a:extLst>
          </p:cNvPr>
          <p:cNvSpPr txBox="1"/>
          <p:nvPr/>
        </p:nvSpPr>
        <p:spPr>
          <a:xfrm>
            <a:off x="630724" y="5589825"/>
            <a:ext cx="6669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100" b="1" dirty="0"/>
              <a:t>James B. Campbell, Randolph H. Wynne &amp; Valerie A. Thomas</a:t>
            </a:r>
            <a:r>
              <a:rPr lang="en-IN" sz="1100" dirty="0"/>
              <a:t> — </a:t>
            </a:r>
            <a:r>
              <a:rPr lang="en-IN" sz="1100" i="1" dirty="0"/>
              <a:t>Introduction to Remote Sensing</a:t>
            </a:r>
            <a:r>
              <a:rPr lang="en-IN" sz="1100" dirty="0"/>
              <a:t>, 6th Ed. </a:t>
            </a:r>
          </a:p>
          <a:p>
            <a:pPr lvl="0"/>
            <a:r>
              <a:rPr lang="en-IN" sz="1100" b="1" dirty="0"/>
              <a:t>John A. Richards</a:t>
            </a:r>
            <a:r>
              <a:rPr lang="en-IN" sz="1100" dirty="0"/>
              <a:t> — </a:t>
            </a:r>
            <a:r>
              <a:rPr lang="en-IN" sz="1100" i="1" dirty="0"/>
              <a:t>Remote Sensing Digital Image Analysis: An Introduction</a:t>
            </a:r>
            <a:r>
              <a:rPr lang="en-IN" sz="1100" dirty="0"/>
              <a:t>, 5th Ed. </a:t>
            </a:r>
          </a:p>
          <a:p>
            <a:pPr lvl="0"/>
            <a:r>
              <a:rPr lang="en-IN" sz="1100" b="1" dirty="0"/>
              <a:t>Judea Pearl</a:t>
            </a:r>
            <a:r>
              <a:rPr lang="en-IN" sz="1100" dirty="0"/>
              <a:t> — </a:t>
            </a:r>
            <a:r>
              <a:rPr lang="en-IN" sz="1100" i="1" dirty="0"/>
              <a:t>Causality: Models, Reasoning, and Inference</a:t>
            </a:r>
            <a:r>
              <a:rPr lang="en-IN" sz="1100" dirty="0"/>
              <a:t>, 2nd 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9225</TotalTime>
  <Words>819</Words>
  <Application>Microsoft Office PowerPoint</Application>
  <PresentationFormat>Widescreen</PresentationFormat>
  <Paragraphs>166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Ankan Bhattacharjee</cp:lastModifiedBy>
  <cp:revision>152</cp:revision>
  <dcterms:created xsi:type="dcterms:W3CDTF">2013-12-12T18:46:50Z</dcterms:created>
  <dcterms:modified xsi:type="dcterms:W3CDTF">2026-08-31T09:57:16Z</dcterms:modified>
  <cp:category/>
</cp:coreProperties>
</file>